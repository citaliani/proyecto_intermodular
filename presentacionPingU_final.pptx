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.xml" ContentType="application/vnd.openxmlformats-officedocument.presentationml.tags+xml"/>
  <Override PartName="/ppt/notesSlides/notesSlide11.xml" ContentType="application/vnd.openxmlformats-officedocument.presentationml.notesSlide+xml"/>
  <Override PartName="/ppt/tags/tag2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3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7" r:id="rId1"/>
  </p:sldMasterIdLst>
  <p:notesMasterIdLst>
    <p:notesMasterId r:id="rId40"/>
  </p:notesMasterIdLst>
  <p:sldIdLst>
    <p:sldId id="273" r:id="rId2"/>
    <p:sldId id="308" r:id="rId3"/>
    <p:sldId id="314" r:id="rId4"/>
    <p:sldId id="320" r:id="rId5"/>
    <p:sldId id="319" r:id="rId6"/>
    <p:sldId id="258" r:id="rId7"/>
    <p:sldId id="324" r:id="rId8"/>
    <p:sldId id="295" r:id="rId9"/>
    <p:sldId id="325" r:id="rId10"/>
    <p:sldId id="317" r:id="rId11"/>
    <p:sldId id="326" r:id="rId12"/>
    <p:sldId id="327" r:id="rId13"/>
    <p:sldId id="284" r:id="rId14"/>
    <p:sldId id="283" r:id="rId15"/>
    <p:sldId id="265" r:id="rId16"/>
    <p:sldId id="318" r:id="rId17"/>
    <p:sldId id="331" r:id="rId18"/>
    <p:sldId id="290" r:id="rId19"/>
    <p:sldId id="267" r:id="rId20"/>
    <p:sldId id="315" r:id="rId21"/>
    <p:sldId id="328" r:id="rId22"/>
    <p:sldId id="307" r:id="rId23"/>
    <p:sldId id="272" r:id="rId24"/>
    <p:sldId id="306" r:id="rId25"/>
    <p:sldId id="312" r:id="rId26"/>
    <p:sldId id="280" r:id="rId27"/>
    <p:sldId id="332" r:id="rId28"/>
    <p:sldId id="302" r:id="rId29"/>
    <p:sldId id="277" r:id="rId30"/>
    <p:sldId id="281" r:id="rId31"/>
    <p:sldId id="329" r:id="rId32"/>
    <p:sldId id="330" r:id="rId33"/>
    <p:sldId id="313" r:id="rId34"/>
    <p:sldId id="321" r:id="rId35"/>
    <p:sldId id="322" r:id="rId36"/>
    <p:sldId id="323" r:id="rId37"/>
    <p:sldId id="285" r:id="rId38"/>
    <p:sldId id="286" r:id="rId3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rlos Italiani" initials="CI" lastIdx="1" clrIdx="0">
    <p:extLst>
      <p:ext uri="{19B8F6BF-5375-455C-9EA6-DF929625EA0E}">
        <p15:presenceInfo xmlns:p15="http://schemas.microsoft.com/office/powerpoint/2012/main" userId="bca0a7c2c46a422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DC84"/>
    <a:srgbClr val="68217A"/>
    <a:srgbClr val="E34F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65" autoAdjust="0"/>
    <p:restoredTop sz="77354" autoAdjust="0"/>
  </p:normalViewPr>
  <p:slideViewPr>
    <p:cSldViewPr snapToGrid="0" snapToObjects="1">
      <p:cViewPr varScale="1">
        <p:scale>
          <a:sx n="65" d="100"/>
          <a:sy n="65" d="100"/>
        </p:scale>
        <p:origin x="902" y="58"/>
      </p:cViewPr>
      <p:guideLst>
        <p:guide orient="horz" pos="2160"/>
        <p:guide pos="2880"/>
      </p:guideLst>
    </p:cSldViewPr>
  </p:slideViewPr>
  <p:outlineViewPr>
    <p:cViewPr>
      <p:scale>
        <a:sx n="100" d="100"/>
        <a:sy n="100" d="100"/>
      </p:scale>
      <p:origin x="0" y="-1925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B24A91-7BC7-4EB8-B070-099960556CA5}" type="datetimeFigureOut">
              <a:rPr lang="es-ES" smtClean="0"/>
              <a:t>11/05/2026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55E2D9-40F1-4709-87A3-DEF682C15E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14836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Dar la bienvenida</a:t>
            </a:r>
          </a:p>
          <a:p>
            <a:r>
              <a:rPr lang="es-ES" dirty="0"/>
              <a:t>Comentar sobre el nombre ‘PingU’ </a:t>
            </a:r>
          </a:p>
          <a:p>
            <a:r>
              <a:rPr lang="es-ES" dirty="0"/>
              <a:t>Comentar sobre el eslogan ‘Conecta. Comparte. Sonríe.’ </a:t>
            </a:r>
          </a:p>
          <a:p>
            <a:r>
              <a:rPr lang="es-ES" dirty="0"/>
              <a:t>Comentar sobre la app ‘ideada como red social estudiantil desde 4 ESO hasta universidad’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55E2D9-40F1-4709-87A3-DEF682C15E39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4462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Comentar el índice.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55E2D9-40F1-4709-87A3-DEF682C15E39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992113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55E2D9-40F1-4709-87A3-DEF682C15E39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53826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Noticia A3 </a:t>
            </a:r>
            <a:br>
              <a:rPr lang="es-ES" dirty="0"/>
            </a:br>
            <a:r>
              <a:rPr lang="es-ES" dirty="0"/>
              <a:t>Meta, con FB, IG, WA lidera el mercado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55E2D9-40F1-4709-87A3-DEF682C15E39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600772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55E2D9-40F1-4709-87A3-DEF682C15E39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441599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Log in  -&gt; ( Registro, Recuperar contraseña, Acceso a la app)</a:t>
            </a:r>
          </a:p>
          <a:p>
            <a:r>
              <a:rPr lang="es-ES" dirty="0"/>
              <a:t>Registro -&gt; botón de color según formulario</a:t>
            </a:r>
          </a:p>
          <a:p>
            <a:r>
              <a:rPr lang="es-ES" dirty="0"/>
              <a:t>Recordar contraseña –&gt; pop up </a:t>
            </a:r>
            <a:r>
              <a:rPr lang="es-ES" dirty="0" err="1"/>
              <a:t>user</a:t>
            </a:r>
            <a:r>
              <a:rPr lang="es-ES" dirty="0"/>
              <a:t>/</a:t>
            </a:r>
            <a:r>
              <a:rPr lang="es-ES" dirty="0" err="1"/>
              <a:t>password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55E2D9-40F1-4709-87A3-DEF682C15E39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252840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Comentar el EndPoint y las funciones que lo llaman desde cada cliente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55E2D9-40F1-4709-87A3-DEF682C15E39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854364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55E2D9-40F1-4709-87A3-DEF682C15E39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98230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Comentar el EndPoint</a:t>
            </a:r>
          </a:p>
          <a:p>
            <a:r>
              <a:rPr lang="es-ES" dirty="0"/>
              <a:t>Comentar las funciones que llaman al EndPoint desde cada cliente 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55E2D9-40F1-4709-87A3-DEF682C15E39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350014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55E2D9-40F1-4709-87A3-DEF682C15E39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816703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 err="1"/>
              <a:t>Movil</a:t>
            </a:r>
            <a:r>
              <a:rPr lang="es-ES" dirty="0"/>
              <a:t> (IAGO) Tiene cuatro columnas tres con el proceso y la ultima con el menú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ok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55E2D9-40F1-4709-87A3-DEF682C15E39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306248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Móvil (IAGO) Tiene cuatro columnas tres con el proceso y la ultima con el menú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Hasta aquí todo OK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55E2D9-40F1-4709-87A3-DEF682C15E39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64069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Comentar el EndPoint</a:t>
            </a:r>
          </a:p>
          <a:p>
            <a:r>
              <a:rPr lang="es-ES" dirty="0"/>
              <a:t>Comentar las funciones que llaman al EndPoint desde cada cliente 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55E2D9-40F1-4709-87A3-DEF682C15E39}" type="slidenum">
              <a:rPr lang="es-ES" smtClean="0"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378203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55E2D9-40F1-4709-87A3-DEF682C15E39}" type="slidenum">
              <a:rPr lang="es-ES" smtClean="0"/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65789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Comentar los formularios de crear un post de cada cliente </a:t>
            </a:r>
          </a:p>
          <a:p>
            <a:r>
              <a:rPr lang="es-ES" b="1" dirty="0">
                <a:solidFill>
                  <a:srgbClr val="FF0000"/>
                </a:solidFill>
                <a:highlight>
                  <a:srgbClr val="FFFF00"/>
                </a:highlight>
              </a:rPr>
              <a:t>CUIDADO CON LA FOTO DEL CLIENTE MOVIL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55E2D9-40F1-4709-87A3-DEF682C15E39}" type="slidenum">
              <a:rPr lang="es-ES" smtClean="0"/>
              <a:t>20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541191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Comentar el EndPoint</a:t>
            </a:r>
          </a:p>
          <a:p>
            <a:r>
              <a:rPr lang="es-ES" dirty="0"/>
              <a:t>Comentar las funciones que llaman al EndPoint desde cada cliente 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55E2D9-40F1-4709-87A3-DEF682C15E39}" type="slidenum">
              <a:rPr lang="es-ES" smtClean="0"/>
              <a:t>22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280652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55E2D9-40F1-4709-87A3-DEF682C15E39}" type="slidenum">
              <a:rPr lang="es-ES" smtClean="0"/>
              <a:t>23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90191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EndPoint principal y el resto de llamadas de esa pantalla ( botones para ejemplos ) 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55E2D9-40F1-4709-87A3-DEF682C15E39}" type="slidenum">
              <a:rPr lang="es-ES" smtClean="0"/>
              <a:t>24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510108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55E2D9-40F1-4709-87A3-DEF682C15E39}" type="slidenum">
              <a:rPr lang="es-ES" smtClean="0"/>
              <a:t>25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923877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55E2D9-40F1-4709-87A3-DEF682C15E39}" type="slidenum">
              <a:rPr lang="es-ES" smtClean="0"/>
              <a:t>26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327584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55E2D9-40F1-4709-87A3-DEF682C15E39}" type="slidenum">
              <a:rPr lang="es-ES" smtClean="0"/>
              <a:t>28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377108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55E2D9-40F1-4709-87A3-DEF682C15E39}" type="slidenum">
              <a:rPr lang="es-ES" smtClean="0"/>
              <a:t>29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63121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55E2D9-40F1-4709-87A3-DEF682C15E39}" type="slidenum">
              <a:rPr lang="es-ES" smtClean="0"/>
              <a:t>30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351669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55E2D9-40F1-4709-87A3-DEF682C15E39}" type="slidenum">
              <a:rPr lang="es-ES" smtClean="0"/>
              <a:t>33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0050897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55E2D9-40F1-4709-87A3-DEF682C15E39}" type="slidenum">
              <a:rPr lang="es-ES" smtClean="0"/>
              <a:t>34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7027675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Despedir la presentación y dar las gracias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55E2D9-40F1-4709-87A3-DEF682C15E39}" type="slidenum">
              <a:rPr lang="es-ES" smtClean="0"/>
              <a:t>37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2476849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55E2D9-40F1-4709-87A3-DEF682C15E39}" type="slidenum">
              <a:rPr lang="es-ES" smtClean="0"/>
              <a:t>38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1266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150" y="802299"/>
            <a:ext cx="8634824" cy="2541431"/>
          </a:xfrm>
        </p:spPr>
        <p:txBody>
          <a:bodyPr bIns="0" anchor="b">
            <a:normAutofit/>
          </a:bodyPr>
          <a:lstStyle>
            <a:lvl1pPr algn="l">
              <a:defRPr sz="6598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150" y="3531205"/>
            <a:ext cx="8634823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799" b="0" cap="all" baseline="0">
                <a:solidFill>
                  <a:schemeClr val="tx1"/>
                </a:solidFill>
              </a:defRPr>
            </a:lvl1pPr>
            <a:lvl2pPr marL="457063" indent="0" algn="ctr">
              <a:buNone/>
              <a:defRPr sz="17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5871" y="329308"/>
            <a:ext cx="4972620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290" y="798973"/>
            <a:ext cx="810808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150" y="3528542"/>
            <a:ext cx="863482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7307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517" y="1847088"/>
            <a:ext cx="960502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8700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3860" y="1756130"/>
            <a:ext cx="8640903" cy="1887950"/>
          </a:xfrm>
        </p:spPr>
        <p:txBody>
          <a:bodyPr anchor="b">
            <a:normAutofit/>
          </a:bodyPr>
          <a:lstStyle>
            <a:lvl1pPr algn="l">
              <a:defRPr sz="359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3861" y="3806196"/>
            <a:ext cx="8628198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7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3861" y="3804985"/>
            <a:ext cx="862819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2000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8840" y="804890"/>
            <a:ext cx="9603134" cy="105930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6954" y="2010879"/>
            <a:ext cx="4643942" cy="344859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2101" y="2017343"/>
            <a:ext cx="4643942" cy="344152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517" y="1847088"/>
            <a:ext cx="960502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5757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815" y="804164"/>
            <a:ext cx="9605159" cy="105631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6814" y="2019550"/>
            <a:ext cx="464394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199" b="0" cap="all" baseline="0">
                <a:solidFill>
                  <a:schemeClr val="accent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6814" y="2824270"/>
            <a:ext cx="4643942" cy="26444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0692" y="2023004"/>
            <a:ext cx="464394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199" b="0" cap="all" baseline="0">
                <a:solidFill>
                  <a:schemeClr val="accent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0692" y="2821491"/>
            <a:ext cx="4643942" cy="263737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517" y="1847088"/>
            <a:ext cx="960502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0619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517" y="1847088"/>
            <a:ext cx="960502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9420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056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295" y="798973"/>
            <a:ext cx="3272247" cy="2247117"/>
          </a:xfrm>
        </p:spPr>
        <p:txBody>
          <a:bodyPr anchor="b">
            <a:normAutofit/>
          </a:bodyPr>
          <a:lstStyle>
            <a:lvl1pPr algn="l">
              <a:defRPr sz="239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2401" y="798974"/>
            <a:ext cx="6010904" cy="4658826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295" y="3205492"/>
            <a:ext cx="3274160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7903" y="3205491"/>
            <a:ext cx="326863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1681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5440" y="482171"/>
            <a:ext cx="4073472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0828" y="1129513"/>
            <a:ext cx="5530887" cy="1830584"/>
          </a:xfrm>
        </p:spPr>
        <p:txBody>
          <a:bodyPr anchor="b">
            <a:normAutofit/>
          </a:bodyPr>
          <a:lstStyle>
            <a:lvl1pPr>
              <a:defRPr sz="319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2274" y="1122543"/>
            <a:ext cx="2790444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9951" y="3145992"/>
            <a:ext cx="5522965" cy="2003742"/>
          </a:xfrm>
        </p:spPr>
        <p:txBody>
          <a:bodyPr>
            <a:normAutofit/>
          </a:bodyPr>
          <a:lstStyle>
            <a:lvl1pPr marL="0" indent="0" algn="l">
              <a:buNone/>
              <a:defRPr sz="1799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005" y="5469857"/>
            <a:ext cx="5525912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005" y="318641"/>
            <a:ext cx="5539561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005" y="3143605"/>
            <a:ext cx="552591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5620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517" y="1847088"/>
            <a:ext cx="960502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9949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6653" y="798974"/>
            <a:ext cx="1615321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296" y="798974"/>
            <a:ext cx="7826791" cy="465988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6653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0838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7"/>
            <a:ext cx="12188825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88825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202" y="804520"/>
            <a:ext cx="9600774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202" y="2015733"/>
            <a:ext cx="9600774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2171" y="330370"/>
            <a:ext cx="3499803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201" y="329308"/>
            <a:ext cx="5937289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9935" y="798973"/>
            <a:ext cx="810808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799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88825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4022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</p:sldLayoutIdLst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3199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999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799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30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3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1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6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394E2CA3-A465-4843-9D70-BA74584EBB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0003" y="1618909"/>
            <a:ext cx="7048817" cy="7048817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075E8C3C-92B4-4C5E-8DCD-1604E5CE0230}"/>
              </a:ext>
            </a:extLst>
          </p:cNvPr>
          <p:cNvSpPr txBox="1"/>
          <p:nvPr/>
        </p:nvSpPr>
        <p:spPr>
          <a:xfrm>
            <a:off x="1173555" y="834079"/>
            <a:ext cx="984171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4800" b="1" dirty="0">
                <a:latin typeface="+mj-lt"/>
                <a:cs typeface="Arial" panose="020B0604020202020204" pitchFamily="34" charset="0"/>
              </a:rPr>
              <a:t>TFG Ciclo Superior DAM</a:t>
            </a:r>
          </a:p>
          <a:p>
            <a:pPr algn="ctr"/>
            <a:r>
              <a:rPr lang="es-ES" sz="4800" b="1" dirty="0">
                <a:latin typeface="+mj-lt"/>
                <a:cs typeface="Arial" panose="020B0604020202020204" pitchFamily="34" charset="0"/>
              </a:rPr>
              <a:t>Colexio Vivas 2026.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82F10EF-0BFE-47BF-AA68-2072E97C48A3}"/>
              </a:ext>
            </a:extLst>
          </p:cNvPr>
          <p:cNvSpPr txBox="1"/>
          <p:nvPr/>
        </p:nvSpPr>
        <p:spPr>
          <a:xfrm>
            <a:off x="9145041" y="0"/>
            <a:ext cx="30437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dirty="0">
                <a:latin typeface="+mj-lt"/>
              </a:rPr>
              <a:t>Carlos Alberto Piñeiro Italiani</a:t>
            </a:r>
          </a:p>
        </p:txBody>
      </p:sp>
    </p:spTree>
    <p:extLst>
      <p:ext uri="{BB962C8B-B14F-4D97-AF65-F5344CB8AC3E}">
        <p14:creationId xmlns:p14="http://schemas.microsoft.com/office/powerpoint/2010/main" val="1502970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 advTm="4000">
        <p14:glitter pattern="hexagon"/>
      </p:transition>
    </mc:Choice>
    <mc:Fallback xmlns="">
      <p:transition spd="slow" advTm="4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F7679631-EDA4-407F-9590-11F6DB39E2B0}"/>
              </a:ext>
            </a:extLst>
          </p:cNvPr>
          <p:cNvSpPr txBox="1"/>
          <p:nvPr/>
        </p:nvSpPr>
        <p:spPr>
          <a:xfrm>
            <a:off x="789965" y="1126482"/>
            <a:ext cx="702973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b="1" i="0" dirty="0">
                <a:solidFill>
                  <a:srgbClr val="68217A"/>
                </a:solidFill>
                <a:effectLst/>
              </a:rPr>
              <a:t>Índice de la presentación</a:t>
            </a:r>
          </a:p>
          <a:p>
            <a:endParaRPr lang="es-ES" dirty="0"/>
          </a:p>
          <a:p>
            <a:pPr marL="342900" indent="-342900">
              <a:buFont typeface="+mj-lt"/>
              <a:buAutoNum type="arabicPeriod"/>
            </a:pPr>
            <a:r>
              <a:rPr lang="es-ES" b="0" i="0" dirty="0">
                <a:effectLst/>
              </a:rPr>
              <a:t>_________________________ 	Introducción.</a:t>
            </a:r>
          </a:p>
          <a:p>
            <a:pPr marL="342900" indent="-342900">
              <a:buFont typeface="+mj-lt"/>
              <a:buAutoNum type="arabicPeriod"/>
            </a:pPr>
            <a:r>
              <a:rPr lang="es-ES" dirty="0"/>
              <a:t>_</a:t>
            </a:r>
            <a:r>
              <a:rPr lang="es-ES" b="0" i="0" dirty="0">
                <a:effectLst/>
              </a:rPr>
              <a:t>________________________	Gestión de usuarios.</a:t>
            </a:r>
          </a:p>
          <a:p>
            <a:pPr marL="342900" indent="-342900">
              <a:buFont typeface="+mj-lt"/>
              <a:buAutoNum type="arabicPeriod"/>
            </a:pPr>
            <a:r>
              <a:rPr lang="es-ES" b="0" i="0" dirty="0">
                <a:effectLst/>
              </a:rPr>
              <a:t>_________________________	Pantalla principal.</a:t>
            </a:r>
          </a:p>
          <a:p>
            <a:pPr marL="342900" indent="-342900">
              <a:buFont typeface="+mj-lt"/>
              <a:buAutoNum type="arabicPeriod"/>
            </a:pPr>
            <a:r>
              <a:rPr lang="es-ES" b="0" i="0" dirty="0">
                <a:effectLst/>
              </a:rPr>
              <a:t>_________________________	Hacer publicación.</a:t>
            </a:r>
          </a:p>
          <a:p>
            <a:pPr marL="342900" indent="-342900">
              <a:buFont typeface="+mj-lt"/>
              <a:buAutoNum type="arabicPeriod"/>
            </a:pPr>
            <a:r>
              <a:rPr lang="es-ES" dirty="0"/>
              <a:t>_________________________	 </a:t>
            </a:r>
            <a:r>
              <a:rPr lang="es-ES" b="0" i="0" dirty="0">
                <a:effectLst/>
              </a:rPr>
              <a:t>Ver mis publicaciones.</a:t>
            </a:r>
          </a:p>
          <a:p>
            <a:pPr marL="342900" indent="-342900">
              <a:buFont typeface="+mj-lt"/>
              <a:buAutoNum type="arabicPeriod"/>
            </a:pPr>
            <a:r>
              <a:rPr lang="es-ES" b="0" i="0" dirty="0">
                <a:effectLst/>
              </a:rPr>
              <a:t>_________________________	 Vista de Usuarios.</a:t>
            </a:r>
          </a:p>
          <a:p>
            <a:pPr marL="800100" lvl="1" indent="-342900">
              <a:buFont typeface="+mj-lt"/>
              <a:buAutoNum type="alphaLcPeriod"/>
            </a:pPr>
            <a:r>
              <a:rPr lang="es-ES" b="0" i="0" dirty="0">
                <a:effectLst/>
              </a:rPr>
              <a:t>	__________________________ Seguidores.</a:t>
            </a:r>
          </a:p>
          <a:p>
            <a:pPr marL="800100" lvl="1" indent="-342900">
              <a:buFont typeface="+mj-lt"/>
              <a:buAutoNum type="alphaLcPeriod"/>
            </a:pPr>
            <a:r>
              <a:rPr lang="es-ES" b="0" i="0" dirty="0">
                <a:effectLst/>
              </a:rPr>
              <a:t>	__________________________ Seguidos.</a:t>
            </a:r>
          </a:p>
          <a:p>
            <a:pPr marL="342900" indent="-342900">
              <a:buFont typeface="+mj-lt"/>
              <a:buAutoNum type="arabicPeriod"/>
            </a:pPr>
            <a:r>
              <a:rPr lang="es-ES" dirty="0"/>
              <a:t>_________________________	</a:t>
            </a:r>
            <a:r>
              <a:rPr lang="es-ES" b="0" i="0" dirty="0">
                <a:effectLst/>
              </a:rPr>
              <a:t>Perfi</a:t>
            </a:r>
            <a:r>
              <a:rPr lang="es-ES" dirty="0"/>
              <a:t>l.</a:t>
            </a:r>
          </a:p>
          <a:p>
            <a:pPr marL="342900" indent="-342900">
              <a:buFont typeface="+mj-lt"/>
              <a:buAutoNum type="arabicPeriod"/>
            </a:pPr>
            <a:r>
              <a:rPr lang="es-ES" dirty="0"/>
              <a:t>_________________________	Líneas de trabajo futuras.</a:t>
            </a:r>
          </a:p>
          <a:p>
            <a:pPr marL="342900" indent="-342900">
              <a:buFont typeface="+mj-lt"/>
              <a:buAutoNum type="arabicPeriod"/>
            </a:pPr>
            <a:endParaRPr lang="es-E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CC50A875-036F-4F33-B165-2C9B23BB5942}"/>
              </a:ext>
            </a:extLst>
          </p:cNvPr>
          <p:cNvCxnSpPr>
            <a:cxnSpLocks/>
          </p:cNvCxnSpPr>
          <p:nvPr/>
        </p:nvCxnSpPr>
        <p:spPr>
          <a:xfrm>
            <a:off x="789965" y="1566320"/>
            <a:ext cx="5847936" cy="0"/>
          </a:xfrm>
          <a:prstGeom prst="line">
            <a:avLst/>
          </a:prstGeom>
          <a:ln w="28575">
            <a:solidFill>
              <a:srgbClr val="6821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2" name="Picture 4">
            <a:extLst>
              <a:ext uri="{FF2B5EF4-FFF2-40B4-BE49-F238E27FC236}">
                <a16:creationId xmlns:a16="http://schemas.microsoft.com/office/drawing/2014/main" id="{1D6B1167-2A2D-4576-A127-3EF314A94B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8517" y="1126482"/>
            <a:ext cx="7581900" cy="438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0587852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47E1328-D8D0-4271-B314-862D3A7B3F2D}"/>
              </a:ext>
            </a:extLst>
          </p:cNvPr>
          <p:cNvSpPr txBox="1"/>
          <p:nvPr/>
        </p:nvSpPr>
        <p:spPr>
          <a:xfrm>
            <a:off x="3685813" y="2921168"/>
            <a:ext cx="50993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000" dirty="0"/>
              <a:t>1. Introducción.</a:t>
            </a:r>
          </a:p>
        </p:txBody>
      </p:sp>
    </p:spTree>
    <p:extLst>
      <p:ext uri="{BB962C8B-B14F-4D97-AF65-F5344CB8AC3E}">
        <p14:creationId xmlns:p14="http://schemas.microsoft.com/office/powerpoint/2010/main" val="4174604015"/>
      </p:ext>
    </p:extLst>
  </p:cSld>
  <p:clrMapOvr>
    <a:masterClrMapping/>
  </p:clrMapOvr>
  <p:transition spd="slow" advTm="2000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47E1328-D8D0-4271-B314-862D3A7B3F2D}"/>
              </a:ext>
            </a:extLst>
          </p:cNvPr>
          <p:cNvSpPr txBox="1"/>
          <p:nvPr/>
        </p:nvSpPr>
        <p:spPr>
          <a:xfrm>
            <a:off x="3685813" y="2925516"/>
            <a:ext cx="48171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ES" sz="60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5842C75-4045-4C34-A9D6-5B9074127B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0355" y="383171"/>
            <a:ext cx="5579995" cy="138352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6506AB41-282D-40B2-8B6D-DFE6F1890C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0403" y="1673747"/>
            <a:ext cx="5067300" cy="506730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F328B0AE-FF39-4BF8-9F1A-8D7A4E39CD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942" y="383171"/>
            <a:ext cx="5985792" cy="4842874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6C107108-3E95-4C31-9D9F-4C2E1D03CB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7678" y="1184413"/>
            <a:ext cx="3414056" cy="81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916793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47E1328-D8D0-4271-B314-862D3A7B3F2D}"/>
              </a:ext>
            </a:extLst>
          </p:cNvPr>
          <p:cNvSpPr txBox="1"/>
          <p:nvPr/>
        </p:nvSpPr>
        <p:spPr>
          <a:xfrm>
            <a:off x="1849821" y="2921168"/>
            <a:ext cx="74328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000" dirty="0"/>
              <a:t>2. Gestión de usuarios.</a:t>
            </a:r>
          </a:p>
        </p:txBody>
      </p:sp>
    </p:spTree>
    <p:extLst>
      <p:ext uri="{BB962C8B-B14F-4D97-AF65-F5344CB8AC3E}">
        <p14:creationId xmlns:p14="http://schemas.microsoft.com/office/powerpoint/2010/main" val="585248174"/>
      </p:ext>
    </p:extLst>
  </p:cSld>
  <p:clrMapOvr>
    <a:masterClrMapping/>
  </p:clrMapOvr>
  <p:transition spd="slow" advTm="2000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3E299F03-0739-45C1-A0D3-E7341DC39F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149" y="1356698"/>
            <a:ext cx="4418964" cy="260906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E3021C54-CE43-4DCB-9428-00045E8DA3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8264" y="599060"/>
            <a:ext cx="2354495" cy="3366707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A2B7950C-94F8-45DD-A6E5-7E95B20CF0F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84803"/>
          <a:stretch/>
        </p:blipFill>
        <p:spPr>
          <a:xfrm>
            <a:off x="8119610" y="2789999"/>
            <a:ext cx="2335044" cy="507412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3E919D87-3CAF-4DEB-A5DD-96CD6F544591}"/>
              </a:ext>
            </a:extLst>
          </p:cNvPr>
          <p:cNvSpPr txBox="1"/>
          <p:nvPr/>
        </p:nvSpPr>
        <p:spPr>
          <a:xfrm>
            <a:off x="8101652" y="785838"/>
            <a:ext cx="3785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Botón rojo: algo no se ha completado.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53DE1289-1952-467A-9BB9-2A030E3BD3F7}"/>
              </a:ext>
            </a:extLst>
          </p:cNvPr>
          <p:cNvSpPr txBox="1"/>
          <p:nvPr/>
        </p:nvSpPr>
        <p:spPr>
          <a:xfrm>
            <a:off x="8101652" y="1979812"/>
            <a:ext cx="4144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Botón amarillo: contraseñas no coinciden.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27B810D5-4C37-402A-A1F5-286DA7633FB4}"/>
              </a:ext>
            </a:extLst>
          </p:cNvPr>
          <p:cNvSpPr txBox="1"/>
          <p:nvPr/>
        </p:nvSpPr>
        <p:spPr>
          <a:xfrm>
            <a:off x="8119610" y="3319436"/>
            <a:ext cx="4582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Botón verde: el formulario está cubierto </a:t>
            </a:r>
          </a:p>
          <a:p>
            <a:r>
              <a:rPr lang="es-ES" dirty="0"/>
              <a:t>de forma correcta.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834C3FF5-9EAD-4FDC-8363-0A4B313B3A3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84803"/>
          <a:stretch/>
        </p:blipFill>
        <p:spPr>
          <a:xfrm>
            <a:off x="8116193" y="1457202"/>
            <a:ext cx="2338461" cy="508155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B86FF175-056A-4D55-A562-D8C825E3A6C9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421" t="83523" r="-1421" b="-460"/>
          <a:stretch/>
        </p:blipFill>
        <p:spPr>
          <a:xfrm>
            <a:off x="8101652" y="229728"/>
            <a:ext cx="2353002" cy="559009"/>
          </a:xfrm>
          <a:prstGeom prst="rect">
            <a:avLst/>
          </a:prstGeom>
        </p:spPr>
      </p:pic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B0ED094F-1F54-48CC-AB2E-FB5E169EE677}"/>
              </a:ext>
            </a:extLst>
          </p:cNvPr>
          <p:cNvCxnSpPr/>
          <p:nvPr/>
        </p:nvCxnSpPr>
        <p:spPr>
          <a:xfrm>
            <a:off x="4950372" y="213148"/>
            <a:ext cx="0" cy="3752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9CE4878A-0B05-4884-8A2F-5E62BAF4CE92}"/>
              </a:ext>
            </a:extLst>
          </p:cNvPr>
          <p:cNvCxnSpPr/>
          <p:nvPr/>
        </p:nvCxnSpPr>
        <p:spPr>
          <a:xfrm>
            <a:off x="291149" y="4120055"/>
            <a:ext cx="115960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Imagen 24">
            <a:extLst>
              <a:ext uri="{FF2B5EF4-FFF2-40B4-BE49-F238E27FC236}">
                <a16:creationId xmlns:a16="http://schemas.microsoft.com/office/drawing/2014/main" id="{14D297EA-A589-45B1-B290-18E22812AF0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425" y="4649719"/>
            <a:ext cx="3642738" cy="2061486"/>
          </a:xfrm>
          <a:prstGeom prst="rect">
            <a:avLst/>
          </a:prstGeom>
        </p:spPr>
      </p:pic>
      <p:sp>
        <p:nvSpPr>
          <p:cNvPr id="27" name="CuadroTexto 26">
            <a:extLst>
              <a:ext uri="{FF2B5EF4-FFF2-40B4-BE49-F238E27FC236}">
                <a16:creationId xmlns:a16="http://schemas.microsoft.com/office/drawing/2014/main" id="{B4B70A02-1227-4623-9A5C-97C9430FEFA5}"/>
              </a:ext>
            </a:extLst>
          </p:cNvPr>
          <p:cNvSpPr txBox="1"/>
          <p:nvPr/>
        </p:nvSpPr>
        <p:spPr>
          <a:xfrm>
            <a:off x="1923331" y="916429"/>
            <a:ext cx="793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u="sng" dirty="0"/>
              <a:t>Log in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341F08BB-B8C4-40C7-9A61-E4F76318ADAF}"/>
              </a:ext>
            </a:extLst>
          </p:cNvPr>
          <p:cNvSpPr txBox="1"/>
          <p:nvPr/>
        </p:nvSpPr>
        <p:spPr>
          <a:xfrm>
            <a:off x="6205329" y="182068"/>
            <a:ext cx="1033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u="sng" dirty="0"/>
              <a:t>Registro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4679C3E-9969-4E52-95C9-E54CA1294C0B}"/>
              </a:ext>
            </a:extLst>
          </p:cNvPr>
          <p:cNvSpPr txBox="1"/>
          <p:nvPr/>
        </p:nvSpPr>
        <p:spPr>
          <a:xfrm>
            <a:off x="1069187" y="4222395"/>
            <a:ext cx="2283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u="sng" dirty="0"/>
              <a:t>Recuperar Contraseña</a:t>
            </a:r>
          </a:p>
        </p:txBody>
      </p:sp>
      <p:sp>
        <p:nvSpPr>
          <p:cNvPr id="30" name="Rectangle 4">
            <a:extLst>
              <a:ext uri="{FF2B5EF4-FFF2-40B4-BE49-F238E27FC236}">
                <a16:creationId xmlns:a16="http://schemas.microsoft.com/office/drawing/2014/main" id="{9570D979-C332-4FFF-8304-826920A67880}"/>
              </a:ext>
            </a:extLst>
          </p:cNvPr>
          <p:cNvSpPr/>
          <p:nvPr/>
        </p:nvSpPr>
        <p:spPr>
          <a:xfrm>
            <a:off x="110514" y="182068"/>
            <a:ext cx="4418964" cy="548640"/>
          </a:xfrm>
          <a:prstGeom prst="rect">
            <a:avLst/>
          </a:prstGeom>
          <a:solidFill>
            <a:srgbClr val="68217A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dirty="0" err="1">
                <a:latin typeface="+mj-lt"/>
              </a:rPr>
              <a:t>Cliente</a:t>
            </a:r>
            <a:r>
              <a:rPr dirty="0">
                <a:latin typeface="+mj-lt"/>
              </a:rPr>
              <a:t> </a:t>
            </a:r>
            <a:r>
              <a:rPr lang="es-ES" dirty="0">
                <a:latin typeface="+mj-lt"/>
              </a:rPr>
              <a:t>escritorio [C#]</a:t>
            </a:r>
            <a:endParaRPr dirty="0">
              <a:latin typeface="+mj-lt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B35BBF2-B03B-4904-B2B8-51166B757D1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44434" y="4665429"/>
            <a:ext cx="3642740" cy="204769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4683C94-42B5-4483-B2E8-8A13A32CDF5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58929" y="4665429"/>
            <a:ext cx="3642739" cy="2047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183495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264FA73-4FD1-4CEF-9DAB-661552C03950}"/>
              </a:ext>
            </a:extLst>
          </p:cNvPr>
          <p:cNvSpPr txBox="1"/>
          <p:nvPr/>
        </p:nvSpPr>
        <p:spPr>
          <a:xfrm>
            <a:off x="2534829" y="2217849"/>
            <a:ext cx="711916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000" dirty="0"/>
              <a:t>El código de: </a:t>
            </a:r>
            <a:br>
              <a:rPr lang="es-ES" sz="6000" dirty="0"/>
            </a:br>
            <a:r>
              <a:rPr lang="es-ES" sz="6000" dirty="0"/>
              <a:t>Registro de usuario.</a:t>
            </a:r>
          </a:p>
        </p:txBody>
      </p:sp>
    </p:spTree>
    <p:extLst>
      <p:ext uri="{BB962C8B-B14F-4D97-AF65-F5344CB8AC3E}">
        <p14:creationId xmlns:p14="http://schemas.microsoft.com/office/powerpoint/2010/main" val="1909205166"/>
      </p:ext>
    </p:extLst>
  </p:cSld>
  <p:clrMapOvr>
    <a:masterClrMapping/>
  </p:clrMapOvr>
  <p:transition spd="slow" advTm="2000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5D6479BF-7DC6-44D8-B851-BE1726FED651}"/>
              </a:ext>
            </a:extLst>
          </p:cNvPr>
          <p:cNvSpPr txBox="1"/>
          <p:nvPr/>
        </p:nvSpPr>
        <p:spPr>
          <a:xfrm>
            <a:off x="7013883" y="77231"/>
            <a:ext cx="3582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dirty="0"/>
              <a:t>EndPoint de la API </a:t>
            </a:r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3C05A22E-315C-41BC-9355-2C84C851E877}"/>
              </a:ext>
            </a:extLst>
          </p:cNvPr>
          <p:cNvSpPr/>
          <p:nvPr/>
        </p:nvSpPr>
        <p:spPr>
          <a:xfrm>
            <a:off x="325347" y="176596"/>
            <a:ext cx="4418964" cy="548640"/>
          </a:xfrm>
          <a:prstGeom prst="rect">
            <a:avLst/>
          </a:prstGeom>
          <a:solidFill>
            <a:srgbClr val="68217A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dirty="0" err="1"/>
              <a:t>Cliente</a:t>
            </a:r>
            <a:r>
              <a:rPr lang="es-ES" dirty="0"/>
              <a:t> escritorio [C#]</a:t>
            </a:r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79D0855-6956-4380-B844-5CC38022FEA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047"/>
          <a:stretch/>
        </p:blipFill>
        <p:spPr>
          <a:xfrm>
            <a:off x="5885355" y="796382"/>
            <a:ext cx="5839800" cy="526523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34C935A-D721-40B3-87AC-2230D95ED1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348" y="2613182"/>
            <a:ext cx="4418964" cy="211092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55AFB56C-617F-4E3B-9BEA-1C037F5FFB1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4272" b="-20338"/>
          <a:stretch/>
        </p:blipFill>
        <p:spPr>
          <a:xfrm>
            <a:off x="1393784" y="1336609"/>
            <a:ext cx="2282090" cy="66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084435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4BFD9AA-85E6-49AA-AEC7-05326C486EFD}"/>
              </a:ext>
            </a:extLst>
          </p:cNvPr>
          <p:cNvSpPr txBox="1"/>
          <p:nvPr/>
        </p:nvSpPr>
        <p:spPr>
          <a:xfrm>
            <a:off x="2262956" y="2459504"/>
            <a:ext cx="766291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000" dirty="0"/>
              <a:t>El código de:</a:t>
            </a:r>
          </a:p>
          <a:p>
            <a:pPr algn="ctr"/>
            <a:r>
              <a:rPr lang="es-ES" sz="6000" dirty="0"/>
              <a:t> Recuperar contraseña.</a:t>
            </a:r>
          </a:p>
        </p:txBody>
      </p:sp>
    </p:spTree>
    <p:extLst>
      <p:ext uri="{BB962C8B-B14F-4D97-AF65-F5344CB8AC3E}">
        <p14:creationId xmlns:p14="http://schemas.microsoft.com/office/powerpoint/2010/main" val="1550504782"/>
      </p:ext>
    </p:extLst>
  </p:cSld>
  <p:clrMapOvr>
    <a:masterClrMapping/>
  </p:clrMapOvr>
  <p:transition spd="slow" advTm="2000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4C214A0D-D85D-43B4-AA4F-44BCCE582FB2}"/>
              </a:ext>
            </a:extLst>
          </p:cNvPr>
          <p:cNvSpPr txBox="1"/>
          <p:nvPr/>
        </p:nvSpPr>
        <p:spPr>
          <a:xfrm>
            <a:off x="7326462" y="37879"/>
            <a:ext cx="3582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dirty="0"/>
              <a:t>EndPoint de la API 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16E39AC-6A55-40C7-8E82-AE1B8EF3BA4E}"/>
              </a:ext>
            </a:extLst>
          </p:cNvPr>
          <p:cNvSpPr/>
          <p:nvPr/>
        </p:nvSpPr>
        <p:spPr>
          <a:xfrm>
            <a:off x="550900" y="135570"/>
            <a:ext cx="4418964" cy="548640"/>
          </a:xfrm>
          <a:prstGeom prst="rect">
            <a:avLst/>
          </a:prstGeom>
          <a:solidFill>
            <a:srgbClr val="68217A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dirty="0" err="1"/>
              <a:t>Cliente</a:t>
            </a:r>
            <a:r>
              <a:rPr dirty="0"/>
              <a:t> </a:t>
            </a:r>
            <a:r>
              <a:rPr lang="es-ES" dirty="0"/>
              <a:t>WEB [HTML / CSS / JS]</a:t>
            </a:r>
            <a:endParaRPr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9D883D8-D2B8-4C59-80D9-803D27CA6A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849" y="917292"/>
            <a:ext cx="5179067" cy="2759952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A1CFB24C-EBD0-4CFB-BC93-12E405B47E55}"/>
              </a:ext>
            </a:extLst>
          </p:cNvPr>
          <p:cNvSpPr txBox="1"/>
          <p:nvPr/>
        </p:nvSpPr>
        <p:spPr>
          <a:xfrm>
            <a:off x="170849" y="3762083"/>
            <a:ext cx="46257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En este EndPoint tenemos los siguientes pasos:</a:t>
            </a:r>
          </a:p>
          <a:p>
            <a:r>
              <a:rPr lang="es-ES" dirty="0"/>
              <a:t>1- Se comprueba si existe usuario solicitado</a:t>
            </a:r>
          </a:p>
          <a:p>
            <a:r>
              <a:rPr lang="es-ES" dirty="0"/>
              <a:t>Si no existe (finaliza) 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88860019-000D-4516-AC5F-A4A80378064F}"/>
              </a:ext>
            </a:extLst>
          </p:cNvPr>
          <p:cNvCxnSpPr>
            <a:cxnSpLocks/>
          </p:cNvCxnSpPr>
          <p:nvPr/>
        </p:nvCxnSpPr>
        <p:spPr>
          <a:xfrm flipH="1">
            <a:off x="4796638" y="3974035"/>
            <a:ext cx="134991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Imagen 15">
            <a:extLst>
              <a:ext uri="{FF2B5EF4-FFF2-40B4-BE49-F238E27FC236}">
                <a16:creationId xmlns:a16="http://schemas.microsoft.com/office/drawing/2014/main" id="{5CF47DA5-4996-41F1-AC71-CE86F14F18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7723" y="915766"/>
            <a:ext cx="5540220" cy="5692633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89F06D1E-48F1-4769-847E-04B0C2CA9E52}"/>
              </a:ext>
            </a:extLst>
          </p:cNvPr>
          <p:cNvSpPr txBox="1"/>
          <p:nvPr/>
        </p:nvSpPr>
        <p:spPr>
          <a:xfrm>
            <a:off x="170849" y="3759260"/>
            <a:ext cx="622717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En este EndPoint tenemos los siguientes pasos:</a:t>
            </a:r>
          </a:p>
          <a:p>
            <a:r>
              <a:rPr lang="es-ES" dirty="0"/>
              <a:t>1- Se comprueba si existe usuario solicitado</a:t>
            </a:r>
          </a:p>
          <a:p>
            <a:r>
              <a:rPr lang="es-ES" dirty="0"/>
              <a:t>Si existe: </a:t>
            </a:r>
          </a:p>
          <a:p>
            <a:r>
              <a:rPr lang="es-ES" dirty="0"/>
              <a:t>2- Se genera una nueva </a:t>
            </a:r>
            <a:r>
              <a:rPr lang="es-ES" dirty="0" err="1"/>
              <a:t>password</a:t>
            </a:r>
            <a:endParaRPr lang="es-ES" dirty="0"/>
          </a:p>
          <a:p>
            <a:r>
              <a:rPr lang="es-ES" dirty="0"/>
              <a:t>3- Se encripta la nueva </a:t>
            </a:r>
            <a:r>
              <a:rPr lang="es-ES" dirty="0" err="1"/>
              <a:t>password</a:t>
            </a:r>
            <a:endParaRPr lang="es-ES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6287A416-26DB-4501-AEA8-E16269A2C49D}"/>
              </a:ext>
            </a:extLst>
          </p:cNvPr>
          <p:cNvSpPr txBox="1"/>
          <p:nvPr/>
        </p:nvSpPr>
        <p:spPr>
          <a:xfrm>
            <a:off x="168053" y="5112321"/>
            <a:ext cx="62271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4- Se guarda en base de datos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FE1A0898-4363-460B-9C74-7A00ACA8B8DD}"/>
              </a:ext>
            </a:extLst>
          </p:cNvPr>
          <p:cNvSpPr/>
          <p:nvPr/>
        </p:nvSpPr>
        <p:spPr>
          <a:xfrm>
            <a:off x="7126988" y="2982931"/>
            <a:ext cx="3530852" cy="694313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ES">
              <a:ln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67A79A4-85B1-4592-9C1A-AD073CD65206}"/>
              </a:ext>
            </a:extLst>
          </p:cNvPr>
          <p:cNvSpPr/>
          <p:nvPr/>
        </p:nvSpPr>
        <p:spPr>
          <a:xfrm>
            <a:off x="7126987" y="3677244"/>
            <a:ext cx="3063493" cy="397046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ES">
              <a:ln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EA6FA65C-776E-4123-B112-6D5FC8F354A4}"/>
              </a:ext>
            </a:extLst>
          </p:cNvPr>
          <p:cNvSpPr txBox="1"/>
          <p:nvPr/>
        </p:nvSpPr>
        <p:spPr>
          <a:xfrm>
            <a:off x="170849" y="5364658"/>
            <a:ext cx="62271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5- Se envía al usuario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158E4AC8-BA22-4CDE-9B48-87C27D0A11DF}"/>
              </a:ext>
            </a:extLst>
          </p:cNvPr>
          <p:cNvSpPr/>
          <p:nvPr/>
        </p:nvSpPr>
        <p:spPr>
          <a:xfrm>
            <a:off x="7126985" y="4074290"/>
            <a:ext cx="4120135" cy="846660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ES">
              <a:ln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45275853-D90E-4DC9-A04C-D0BCA8B79102}"/>
              </a:ext>
            </a:extLst>
          </p:cNvPr>
          <p:cNvSpPr/>
          <p:nvPr/>
        </p:nvSpPr>
        <p:spPr>
          <a:xfrm>
            <a:off x="7126986" y="4920950"/>
            <a:ext cx="4760957" cy="653810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ES">
              <a:ln>
                <a:solidFill>
                  <a:schemeClr val="tx1"/>
                </a:solidFill>
              </a:ln>
              <a:noFill/>
            </a:endParaRPr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A2563925-CA3D-4DAF-8C17-320CCB7678FA}"/>
              </a:ext>
            </a:extLst>
          </p:cNvPr>
          <p:cNvCxnSpPr>
            <a:cxnSpLocks/>
          </p:cNvCxnSpPr>
          <p:nvPr/>
        </p:nvCxnSpPr>
        <p:spPr>
          <a:xfrm flipH="1">
            <a:off x="3619951" y="4786835"/>
            <a:ext cx="134991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34184452-E397-44EC-A8D1-2E8644C0B74B}"/>
              </a:ext>
            </a:extLst>
          </p:cNvPr>
          <p:cNvCxnSpPr>
            <a:cxnSpLocks/>
          </p:cNvCxnSpPr>
          <p:nvPr/>
        </p:nvCxnSpPr>
        <p:spPr>
          <a:xfrm flipH="1">
            <a:off x="3070805" y="5345813"/>
            <a:ext cx="134991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AFD44344-E8F3-4C07-A581-E9FC964355EA}"/>
              </a:ext>
            </a:extLst>
          </p:cNvPr>
          <p:cNvCxnSpPr>
            <a:cxnSpLocks/>
          </p:cNvCxnSpPr>
          <p:nvPr/>
        </p:nvCxnSpPr>
        <p:spPr>
          <a:xfrm flipH="1">
            <a:off x="2270038" y="5574760"/>
            <a:ext cx="134991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51F37A00-1839-4118-8572-F9093A2F94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916" y="228997"/>
            <a:ext cx="1615580" cy="349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13612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000"/>
                            </p:stCondLst>
                            <p:childTnLst>
                              <p:par>
                                <p:cTn id="2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2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8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18" grpId="0"/>
      <p:bldP spid="20" grpId="0"/>
      <p:bldP spid="22" grpId="0" animBg="1"/>
      <p:bldP spid="22" grpId="1" animBg="1"/>
      <p:bldP spid="23" grpId="0" animBg="1"/>
      <p:bldP spid="23" grpId="1" animBg="1"/>
      <p:bldP spid="25" grpId="0"/>
      <p:bldP spid="26" grpId="0" animBg="1"/>
      <p:bldP spid="26" grpId="1" animBg="1"/>
      <p:bldP spid="2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6021D209-9413-459A-A1DA-0E306A721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3585" y="1908572"/>
            <a:ext cx="5780105" cy="3539266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687421AC-D190-4426-8AEE-566B65E9ACE8}"/>
              </a:ext>
            </a:extLst>
          </p:cNvPr>
          <p:cNvSpPr txBox="1"/>
          <p:nvPr/>
        </p:nvSpPr>
        <p:spPr>
          <a:xfrm>
            <a:off x="3893830" y="1398196"/>
            <a:ext cx="4401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Finalmente nos llega una nueva contraseña.</a:t>
            </a:r>
          </a:p>
        </p:txBody>
      </p:sp>
    </p:spTree>
    <p:extLst>
      <p:ext uri="{BB962C8B-B14F-4D97-AF65-F5344CB8AC3E}">
        <p14:creationId xmlns:p14="http://schemas.microsoft.com/office/powerpoint/2010/main" val="807908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792EF0C-E902-4161-95B8-97BFF2C4524F}"/>
              </a:ext>
            </a:extLst>
          </p:cNvPr>
          <p:cNvSpPr txBox="1"/>
          <p:nvPr/>
        </p:nvSpPr>
        <p:spPr>
          <a:xfrm>
            <a:off x="3075809" y="2459503"/>
            <a:ext cx="603720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000" dirty="0"/>
              <a:t>El código de: </a:t>
            </a:r>
          </a:p>
          <a:p>
            <a:pPr algn="ctr"/>
            <a:r>
              <a:rPr lang="es-ES" sz="6000" dirty="0"/>
              <a:t>Log in.</a:t>
            </a:r>
          </a:p>
        </p:txBody>
      </p:sp>
    </p:spTree>
    <p:extLst>
      <p:ext uri="{BB962C8B-B14F-4D97-AF65-F5344CB8AC3E}">
        <p14:creationId xmlns:p14="http://schemas.microsoft.com/office/powerpoint/2010/main" val="995635049"/>
      </p:ext>
    </p:extLst>
  </p:cSld>
  <p:clrMapOvr>
    <a:masterClrMapping/>
  </p:clrMapOvr>
  <p:transition spd="slow" advTm="2000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uadroTexto 11">
            <a:extLst>
              <a:ext uri="{FF2B5EF4-FFF2-40B4-BE49-F238E27FC236}">
                <a16:creationId xmlns:a16="http://schemas.microsoft.com/office/drawing/2014/main" id="{FCA83747-19A7-430B-BEE9-0A43F1343925}"/>
              </a:ext>
            </a:extLst>
          </p:cNvPr>
          <p:cNvSpPr txBox="1"/>
          <p:nvPr/>
        </p:nvSpPr>
        <p:spPr>
          <a:xfrm>
            <a:off x="7321642" y="1024986"/>
            <a:ext cx="3582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dirty="0"/>
              <a:t>EndPoint de la API </a:t>
            </a:r>
          </a:p>
        </p:txBody>
      </p:sp>
      <p:sp>
        <p:nvSpPr>
          <p:cNvPr id="19" name="Rectangle 7">
            <a:extLst>
              <a:ext uri="{FF2B5EF4-FFF2-40B4-BE49-F238E27FC236}">
                <a16:creationId xmlns:a16="http://schemas.microsoft.com/office/drawing/2014/main" id="{99202C66-2635-4908-8AD9-BF012774B872}"/>
              </a:ext>
            </a:extLst>
          </p:cNvPr>
          <p:cNvSpPr/>
          <p:nvPr/>
        </p:nvSpPr>
        <p:spPr>
          <a:xfrm>
            <a:off x="1227197" y="227008"/>
            <a:ext cx="3697224" cy="548640"/>
          </a:xfrm>
          <a:prstGeom prst="rect">
            <a:avLst/>
          </a:prstGeom>
          <a:solidFill>
            <a:srgbClr val="68217A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lang="es-ES" dirty="0"/>
              <a:t>Cliente</a:t>
            </a:r>
            <a:r>
              <a:rPr dirty="0"/>
              <a:t> </a:t>
            </a:r>
            <a:r>
              <a:rPr lang="es-ES" dirty="0"/>
              <a:t>móvil [Android]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C28166F-D001-497D-9383-4120771611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2863" y="1631631"/>
            <a:ext cx="4780302" cy="516103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8C11787-F6D6-4740-B308-7FD97D32CE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223" y="1214341"/>
            <a:ext cx="6330119" cy="557832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422039D-4872-4726-B377-A6E463C802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4405" y="135513"/>
            <a:ext cx="3909399" cy="640135"/>
          </a:xfrm>
          <a:prstGeom prst="rect">
            <a:avLst/>
          </a:prstGeom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1F77B00F-DA0A-4CF2-B0F0-47EF5C66447E}"/>
              </a:ext>
            </a:extLst>
          </p:cNvPr>
          <p:cNvSpPr/>
          <p:nvPr/>
        </p:nvSpPr>
        <p:spPr>
          <a:xfrm>
            <a:off x="252851" y="1775012"/>
            <a:ext cx="4502029" cy="245798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ES">
              <a:ln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E6877A1-0584-4318-B253-29256FAA747F}"/>
              </a:ext>
            </a:extLst>
          </p:cNvPr>
          <p:cNvSpPr/>
          <p:nvPr/>
        </p:nvSpPr>
        <p:spPr>
          <a:xfrm>
            <a:off x="252851" y="2117257"/>
            <a:ext cx="4502029" cy="245798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ES">
              <a:ln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9EDD1774-E569-4626-8AE5-F977CC485BD9}"/>
              </a:ext>
            </a:extLst>
          </p:cNvPr>
          <p:cNvSpPr/>
          <p:nvPr/>
        </p:nvSpPr>
        <p:spPr>
          <a:xfrm>
            <a:off x="7482453" y="474589"/>
            <a:ext cx="3473301" cy="245798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ES">
              <a:ln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F372FEA-4767-40A5-91E5-4A82AF4FAE71}"/>
              </a:ext>
            </a:extLst>
          </p:cNvPr>
          <p:cNvSpPr txBox="1"/>
          <p:nvPr/>
        </p:nvSpPr>
        <p:spPr>
          <a:xfrm flipH="1">
            <a:off x="4978400" y="1774588"/>
            <a:ext cx="14994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>
                <a:solidFill>
                  <a:srgbClr val="FF0000"/>
                </a:solidFill>
              </a:rPr>
              <a:t>Instanciamos el servicio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5533ACC-87AE-44C4-AE0B-BFE3AA95A5FD}"/>
              </a:ext>
            </a:extLst>
          </p:cNvPr>
          <p:cNvSpPr txBox="1"/>
          <p:nvPr/>
        </p:nvSpPr>
        <p:spPr>
          <a:xfrm flipH="1">
            <a:off x="4978401" y="2107356"/>
            <a:ext cx="14994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>
                <a:solidFill>
                  <a:srgbClr val="FF0000"/>
                </a:solidFill>
              </a:rPr>
              <a:t>Creamos el objeto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BD1D963E-FF42-4D7E-B4ED-05C1E624F5B3}"/>
              </a:ext>
            </a:extLst>
          </p:cNvPr>
          <p:cNvSpPr/>
          <p:nvPr/>
        </p:nvSpPr>
        <p:spPr>
          <a:xfrm>
            <a:off x="253436" y="2439602"/>
            <a:ext cx="4670985" cy="245798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ES">
              <a:ln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25FE6ADC-C47B-4B54-8AA3-6864CD1B15DC}"/>
              </a:ext>
            </a:extLst>
          </p:cNvPr>
          <p:cNvSpPr txBox="1"/>
          <p:nvPr/>
        </p:nvSpPr>
        <p:spPr>
          <a:xfrm flipH="1">
            <a:off x="4978399" y="2439179"/>
            <a:ext cx="14994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>
                <a:solidFill>
                  <a:srgbClr val="FF0000"/>
                </a:solidFill>
              </a:rPr>
              <a:t>Realizamos la llamada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0820F73B-8472-458D-9E9E-FC246AB56AFE}"/>
              </a:ext>
            </a:extLst>
          </p:cNvPr>
          <p:cNvSpPr/>
          <p:nvPr/>
        </p:nvSpPr>
        <p:spPr>
          <a:xfrm>
            <a:off x="7482454" y="296429"/>
            <a:ext cx="1244858" cy="245798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ES">
              <a:ln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E8DF77B1-E4E9-4E7A-A03D-5764ADF6B5C4}"/>
              </a:ext>
            </a:extLst>
          </p:cNvPr>
          <p:cNvSpPr/>
          <p:nvPr/>
        </p:nvSpPr>
        <p:spPr>
          <a:xfrm>
            <a:off x="6722863" y="1603519"/>
            <a:ext cx="4780302" cy="5189145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ES">
              <a:ln>
                <a:solidFill>
                  <a:schemeClr val="tx1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76510441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3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  <p:bldP spid="17" grpId="0" animBg="1"/>
      <p:bldP spid="17" grpId="1" animBg="1"/>
      <p:bldP spid="18" grpId="0" animBg="1"/>
      <p:bldP spid="18" grpId="1" animBg="1"/>
      <p:bldP spid="9" grpId="0"/>
      <p:bldP spid="22" grpId="0"/>
      <p:bldP spid="23" grpId="0" animBg="1"/>
      <p:bldP spid="24" grpId="0"/>
      <p:bldP spid="25" grpId="0" animBg="1"/>
      <p:bldP spid="2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CBA1EFF-43CA-4C13-8F91-98E4597BFDAE}"/>
              </a:ext>
            </a:extLst>
          </p:cNvPr>
          <p:cNvSpPr txBox="1"/>
          <p:nvPr/>
        </p:nvSpPr>
        <p:spPr>
          <a:xfrm>
            <a:off x="1265431" y="2146724"/>
            <a:ext cx="96579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000" dirty="0"/>
              <a:t>3. Pantalla principal.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1397B1A-0148-4B2D-A0C0-FC318834BC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7327" y="3695613"/>
            <a:ext cx="6754168" cy="1190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712235"/>
      </p:ext>
    </p:extLst>
  </p:cSld>
  <p:clrMapOvr>
    <a:masterClrMapping/>
  </p:clrMapOvr>
  <p:transition spd="slow" advTm="2000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50665" y="1863553"/>
            <a:ext cx="3385088" cy="683444"/>
          </a:xfrm>
          <a:prstGeom prst="rect">
            <a:avLst/>
          </a:prstGeom>
          <a:solidFill>
            <a:srgbClr val="68217A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lang="es-ES" dirty="0"/>
              <a:t>Cliente</a:t>
            </a:r>
            <a:r>
              <a:rPr dirty="0"/>
              <a:t> </a:t>
            </a:r>
            <a:r>
              <a:rPr lang="es-ES" dirty="0"/>
              <a:t>móvil [Android]</a:t>
            </a:r>
            <a:endParaRPr dirty="0"/>
          </a:p>
        </p:txBody>
      </p:sp>
      <p:sp>
        <p:nvSpPr>
          <p:cNvPr id="15" name="AutoShape 2">
            <a:extLst>
              <a:ext uri="{FF2B5EF4-FFF2-40B4-BE49-F238E27FC236}">
                <a16:creationId xmlns:a16="http://schemas.microsoft.com/office/drawing/2014/main" id="{89189D5D-1BE3-4A3B-8159-0DB45263D49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2013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9" name="AutoShape 8">
            <a:extLst>
              <a:ext uri="{FF2B5EF4-FFF2-40B4-BE49-F238E27FC236}">
                <a16:creationId xmlns:a16="http://schemas.microsoft.com/office/drawing/2014/main" id="{3886C821-581F-49E2-A179-B4868364712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71923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B860BB1-5CCE-440E-ADD1-4DB220705E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2785" y="161508"/>
            <a:ext cx="2623938" cy="583477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376D21B-4A30-434B-9D4A-FEAF98DBF8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1678" y="170616"/>
            <a:ext cx="2628034" cy="584388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E635554-556A-4B0B-A444-5CA5C4CC4E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8821" y="161508"/>
            <a:ext cx="2632130" cy="5852988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88FD3855-456B-483C-A8A9-D94D1DAC87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2105" y="3671104"/>
            <a:ext cx="2625725" cy="230734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9266936"/>
      </p:ext>
    </p:extLst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utoShape 2">
            <a:extLst>
              <a:ext uri="{FF2B5EF4-FFF2-40B4-BE49-F238E27FC236}">
                <a16:creationId xmlns:a16="http://schemas.microsoft.com/office/drawing/2014/main" id="{89189D5D-1BE3-4A3B-8159-0DB45263D49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2013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9" name="AutoShape 8">
            <a:extLst>
              <a:ext uri="{FF2B5EF4-FFF2-40B4-BE49-F238E27FC236}">
                <a16:creationId xmlns:a16="http://schemas.microsoft.com/office/drawing/2014/main" id="{3886C821-581F-49E2-A179-B4868364712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71923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71BA694-0648-4573-AB8A-6C6AA3CC2E88}"/>
              </a:ext>
            </a:extLst>
          </p:cNvPr>
          <p:cNvSpPr txBox="1"/>
          <p:nvPr/>
        </p:nvSpPr>
        <p:spPr>
          <a:xfrm>
            <a:off x="370182" y="333256"/>
            <a:ext cx="98845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dirty="0"/>
              <a:t>La versión móvil disponible en tres idiomas.</a:t>
            </a:r>
          </a:p>
        </p:txBody>
      </p:sp>
      <p:pic>
        <p:nvPicPr>
          <p:cNvPr id="11" name="Picture 16">
            <a:extLst>
              <a:ext uri="{FF2B5EF4-FFF2-40B4-BE49-F238E27FC236}">
                <a16:creationId xmlns:a16="http://schemas.microsoft.com/office/drawing/2014/main" id="{A97599DC-81C3-4253-A6AD-ED6881945F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32" y="913554"/>
            <a:ext cx="2294352" cy="2119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0">
            <a:extLst>
              <a:ext uri="{FF2B5EF4-FFF2-40B4-BE49-F238E27FC236}">
                <a16:creationId xmlns:a16="http://schemas.microsoft.com/office/drawing/2014/main" id="{62F25C1B-3BEC-41C2-9654-3C2D15944A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182" y="4216368"/>
            <a:ext cx="1992099" cy="1329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8">
            <a:extLst>
              <a:ext uri="{FF2B5EF4-FFF2-40B4-BE49-F238E27FC236}">
                <a16:creationId xmlns:a16="http://schemas.microsoft.com/office/drawing/2014/main" id="{979F4D49-9DBC-44C2-876D-4A0BA2A036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735" y="2642210"/>
            <a:ext cx="1944546" cy="1574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2">
            <a:extLst>
              <a:ext uri="{FF2B5EF4-FFF2-40B4-BE49-F238E27FC236}">
                <a16:creationId xmlns:a16="http://schemas.microsoft.com/office/drawing/2014/main" id="{46EC526F-2652-49E5-881B-5845C509A3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5742" y="509852"/>
            <a:ext cx="2990252" cy="6086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6">
            <a:extLst>
              <a:ext uri="{FF2B5EF4-FFF2-40B4-BE49-F238E27FC236}">
                <a16:creationId xmlns:a16="http://schemas.microsoft.com/office/drawing/2014/main" id="{026F588D-2904-482B-974F-AE96EC8185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0971" y="1864912"/>
            <a:ext cx="2340232" cy="472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7044EC5C-19D1-450C-AB71-E8A70F60CAC2}"/>
              </a:ext>
            </a:extLst>
          </p:cNvPr>
          <p:cNvSpPr txBox="1"/>
          <p:nvPr/>
        </p:nvSpPr>
        <p:spPr>
          <a:xfrm>
            <a:off x="2537183" y="1650028"/>
            <a:ext cx="42918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Castellano.</a:t>
            </a:r>
          </a:p>
          <a:p>
            <a:r>
              <a:rPr lang="es-ES" dirty="0"/>
              <a:t>(ya se han mostrado ejemplos de interfaz).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2E70946-5A38-4476-BEAA-116BDB6E6918}"/>
              </a:ext>
            </a:extLst>
          </p:cNvPr>
          <p:cNvSpPr txBox="1"/>
          <p:nvPr/>
        </p:nvSpPr>
        <p:spPr>
          <a:xfrm>
            <a:off x="2537184" y="4696247"/>
            <a:ext cx="927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Gallego.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93F0168A-9FFA-4144-92D7-9E0703D82E03}"/>
              </a:ext>
            </a:extLst>
          </p:cNvPr>
          <p:cNvSpPr txBox="1"/>
          <p:nvPr/>
        </p:nvSpPr>
        <p:spPr>
          <a:xfrm>
            <a:off x="2537184" y="3243801"/>
            <a:ext cx="842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Inglés.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50764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00"/>
                            </p:stCondLst>
                            <p:childTnLst>
                              <p:par>
                                <p:cTn id="3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000"/>
                            </p:stCondLst>
                            <p:childTnLst>
                              <p:par>
                                <p:cTn id="4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8" grpId="0"/>
      <p:bldP spid="19" grpId="0"/>
      <p:bldP spid="2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41E95C6-59E7-4E41-A96D-B93F6F554981}"/>
              </a:ext>
            </a:extLst>
          </p:cNvPr>
          <p:cNvSpPr txBox="1"/>
          <p:nvPr/>
        </p:nvSpPr>
        <p:spPr>
          <a:xfrm>
            <a:off x="2696886" y="2459504"/>
            <a:ext cx="679505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000" dirty="0"/>
              <a:t>El código de: </a:t>
            </a:r>
          </a:p>
          <a:p>
            <a:pPr algn="ctr"/>
            <a:r>
              <a:rPr lang="es-ES" sz="6000" dirty="0"/>
              <a:t>La pantalla principal.</a:t>
            </a:r>
          </a:p>
        </p:txBody>
      </p:sp>
    </p:spTree>
    <p:extLst>
      <p:ext uri="{BB962C8B-B14F-4D97-AF65-F5344CB8AC3E}">
        <p14:creationId xmlns:p14="http://schemas.microsoft.com/office/powerpoint/2010/main" val="1677406183"/>
      </p:ext>
    </p:extLst>
  </p:cSld>
  <p:clrMapOvr>
    <a:masterClrMapping/>
  </p:clrMapOvr>
  <p:transition spd="slow" advTm="2000"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5D6479BF-7DC6-44D8-B851-BE1726FED651}"/>
              </a:ext>
            </a:extLst>
          </p:cNvPr>
          <p:cNvSpPr txBox="1"/>
          <p:nvPr/>
        </p:nvSpPr>
        <p:spPr>
          <a:xfrm>
            <a:off x="7356975" y="1066983"/>
            <a:ext cx="3582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dirty="0"/>
              <a:t>EndPoint de la API 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88C9A4A5-C133-4FC3-996D-CD5AF35895A7}"/>
              </a:ext>
            </a:extLst>
          </p:cNvPr>
          <p:cNvSpPr/>
          <p:nvPr/>
        </p:nvSpPr>
        <p:spPr>
          <a:xfrm>
            <a:off x="1332541" y="914516"/>
            <a:ext cx="3697224" cy="499794"/>
          </a:xfrm>
          <a:prstGeom prst="rect">
            <a:avLst/>
          </a:prstGeom>
          <a:solidFill>
            <a:srgbClr val="68217A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lang="es-ES" dirty="0"/>
              <a:t>Cliente</a:t>
            </a:r>
            <a:r>
              <a:rPr dirty="0"/>
              <a:t> </a:t>
            </a:r>
            <a:r>
              <a:rPr lang="es-ES" dirty="0"/>
              <a:t>móvil [Android]</a:t>
            </a:r>
            <a:endParaRPr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7ECA5DE9-8806-4023-A58B-909E8E3054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876" y="1915741"/>
            <a:ext cx="6044554" cy="377784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BFAD71E-BD2A-4DC3-902C-40DA43F9D7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5225" y="444347"/>
            <a:ext cx="2568163" cy="381033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40A45D09-5FD0-4F26-9BC6-A89A5E8D56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1350" y="1915741"/>
            <a:ext cx="5633995" cy="3969880"/>
          </a:xfrm>
          <a:prstGeom prst="rect">
            <a:avLst/>
          </a:prstGeom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D7AD9E79-A47A-4565-A4CA-849E8B36F1ED}"/>
              </a:ext>
            </a:extLst>
          </p:cNvPr>
          <p:cNvSpPr/>
          <p:nvPr/>
        </p:nvSpPr>
        <p:spPr>
          <a:xfrm>
            <a:off x="336672" y="2346512"/>
            <a:ext cx="3358260" cy="245798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ES">
              <a:ln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3E80760F-F7BD-4D64-876E-ECCE3EDC20E0}"/>
              </a:ext>
            </a:extLst>
          </p:cNvPr>
          <p:cNvSpPr/>
          <p:nvPr/>
        </p:nvSpPr>
        <p:spPr>
          <a:xfrm>
            <a:off x="7885225" y="586754"/>
            <a:ext cx="2568163" cy="245798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ES">
              <a:ln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7B666AD-885C-4EF8-A161-E623AA80008E}"/>
              </a:ext>
            </a:extLst>
          </p:cNvPr>
          <p:cNvSpPr/>
          <p:nvPr/>
        </p:nvSpPr>
        <p:spPr>
          <a:xfrm>
            <a:off x="7885225" y="437175"/>
            <a:ext cx="999695" cy="149579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ES">
              <a:ln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C2A318B1-E06A-4ADF-BAA0-F60078B3B475}"/>
              </a:ext>
            </a:extLst>
          </p:cNvPr>
          <p:cNvSpPr/>
          <p:nvPr/>
        </p:nvSpPr>
        <p:spPr>
          <a:xfrm>
            <a:off x="6331350" y="1917027"/>
            <a:ext cx="5698599" cy="3968593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ES">
              <a:ln>
                <a:solidFill>
                  <a:schemeClr val="tx1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21644187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7" grpId="0" animBg="1"/>
      <p:bldP spid="17" grpId="1" animBg="1"/>
      <p:bldP spid="18" grpId="0" animBg="1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47E1328-D8D0-4271-B314-862D3A7B3F2D}"/>
              </a:ext>
            </a:extLst>
          </p:cNvPr>
          <p:cNvSpPr txBox="1"/>
          <p:nvPr/>
        </p:nvSpPr>
        <p:spPr>
          <a:xfrm>
            <a:off x="2848767" y="2921168"/>
            <a:ext cx="67582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000" dirty="0"/>
              <a:t>4. Crear publicación.</a:t>
            </a:r>
          </a:p>
        </p:txBody>
      </p:sp>
    </p:spTree>
    <p:extLst>
      <p:ext uri="{BB962C8B-B14F-4D97-AF65-F5344CB8AC3E}">
        <p14:creationId xmlns:p14="http://schemas.microsoft.com/office/powerpoint/2010/main" val="3152656237"/>
      </p:ext>
    </p:extLst>
  </p:cSld>
  <p:clrMapOvr>
    <a:masterClrMapping/>
  </p:clrMapOvr>
  <p:transition spd="slow" advTm="2000">
    <p:cover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utoShape 2">
            <a:extLst>
              <a:ext uri="{FF2B5EF4-FFF2-40B4-BE49-F238E27FC236}">
                <a16:creationId xmlns:a16="http://schemas.microsoft.com/office/drawing/2014/main" id="{89189D5D-1BE3-4A3B-8159-0DB45263D49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2013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2" name="Rectangle 1">
            <a:extLst>
              <a:ext uri="{FF2B5EF4-FFF2-40B4-BE49-F238E27FC236}">
                <a16:creationId xmlns:a16="http://schemas.microsoft.com/office/drawing/2014/main" id="{92CCC912-5D12-4C17-9390-CB4B58B8916A}"/>
              </a:ext>
            </a:extLst>
          </p:cNvPr>
          <p:cNvSpPr/>
          <p:nvPr/>
        </p:nvSpPr>
        <p:spPr>
          <a:xfrm>
            <a:off x="156907" y="283132"/>
            <a:ext cx="4418964" cy="548640"/>
          </a:xfrm>
          <a:prstGeom prst="rect">
            <a:avLst/>
          </a:prstGeom>
          <a:solidFill>
            <a:srgbClr val="68217A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dirty="0" err="1"/>
              <a:t>Cliente</a:t>
            </a:r>
            <a:r>
              <a:rPr dirty="0"/>
              <a:t> </a:t>
            </a:r>
            <a:r>
              <a:rPr lang="es-ES" dirty="0"/>
              <a:t>WEB [HTML / CSS / JS]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C431197-9506-4645-8BDE-6CBF2BBE4E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129" y="935476"/>
            <a:ext cx="4418964" cy="2353099"/>
          </a:xfrm>
          <a:prstGeom prst="rect">
            <a:avLst/>
          </a:prstGeom>
        </p:spPr>
      </p:pic>
      <p:sp>
        <p:nvSpPr>
          <p:cNvPr id="6" name="AutoShape 2">
            <a:extLst>
              <a:ext uri="{FF2B5EF4-FFF2-40B4-BE49-F238E27FC236}">
                <a16:creationId xmlns:a16="http://schemas.microsoft.com/office/drawing/2014/main" id="{F014F771-F3D6-4963-B42C-F8D338FFBF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4413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6075387-80AF-4E2E-8C2B-D63C09112E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0620" y="923501"/>
            <a:ext cx="7140964" cy="107936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124CF3F9-99B2-4577-B07B-30D0DB139E0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4335"/>
          <a:stretch/>
        </p:blipFill>
        <p:spPr>
          <a:xfrm>
            <a:off x="4730620" y="2194399"/>
            <a:ext cx="7140964" cy="108220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43016768-4039-4497-8546-89E232B03BD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43533"/>
          <a:stretch/>
        </p:blipFill>
        <p:spPr>
          <a:xfrm>
            <a:off x="156907" y="3429001"/>
            <a:ext cx="11714677" cy="3145868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634A5E48-F768-4E13-AB6C-37679060B8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8764" y="1829868"/>
            <a:ext cx="2034578" cy="1028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03012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4A93C1F-618D-4B06-9858-3B7FF9256194}"/>
              </a:ext>
            </a:extLst>
          </p:cNvPr>
          <p:cNvSpPr txBox="1"/>
          <p:nvPr/>
        </p:nvSpPr>
        <p:spPr>
          <a:xfrm>
            <a:off x="3134181" y="2459504"/>
            <a:ext cx="592046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000" dirty="0"/>
              <a:t>El código de:</a:t>
            </a:r>
            <a:br>
              <a:rPr lang="es-ES" sz="6000" dirty="0"/>
            </a:br>
            <a:r>
              <a:rPr lang="es-ES" sz="6000" dirty="0"/>
              <a:t>Crear publicación.</a:t>
            </a:r>
          </a:p>
        </p:txBody>
      </p:sp>
    </p:spTree>
    <p:extLst>
      <p:ext uri="{BB962C8B-B14F-4D97-AF65-F5344CB8AC3E}">
        <p14:creationId xmlns:p14="http://schemas.microsoft.com/office/powerpoint/2010/main" val="4167056847"/>
      </p:ext>
    </p:extLst>
  </p:cSld>
  <p:clrMapOvr>
    <a:masterClrMapping/>
  </p:clrMapOvr>
  <p:transition spd="slow" advTm="2000">
    <p:cover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244D083-AC00-4DF1-88CE-5BF7191E9A11}"/>
              </a:ext>
            </a:extLst>
          </p:cNvPr>
          <p:cNvSpPr txBox="1"/>
          <p:nvPr/>
        </p:nvSpPr>
        <p:spPr>
          <a:xfrm>
            <a:off x="6752071" y="93597"/>
            <a:ext cx="3582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dirty="0"/>
              <a:t>EndPoint de la API 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B2F658F2-9C5B-4D46-BCDD-8E2B9B5792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3190" y="833267"/>
            <a:ext cx="5820506" cy="445569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7512974B-786F-4013-90A0-49503881BA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981" y="833267"/>
            <a:ext cx="4070023" cy="5520642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EA2798AB-1CE9-425B-AEFD-26E49E5D3479}"/>
              </a:ext>
            </a:extLst>
          </p:cNvPr>
          <p:cNvSpPr/>
          <p:nvPr/>
        </p:nvSpPr>
        <p:spPr>
          <a:xfrm>
            <a:off x="339562" y="142443"/>
            <a:ext cx="4418964" cy="548640"/>
          </a:xfrm>
          <a:prstGeom prst="rect">
            <a:avLst/>
          </a:prstGeom>
          <a:solidFill>
            <a:srgbClr val="68217A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dirty="0" err="1"/>
              <a:t>Cliente</a:t>
            </a:r>
            <a:r>
              <a:rPr dirty="0"/>
              <a:t> </a:t>
            </a:r>
            <a:r>
              <a:rPr lang="es-ES" dirty="0"/>
              <a:t>WEB [HTML / CSS / JS]</a:t>
            </a:r>
            <a:endParaRPr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266523E-F824-4967-84C2-CEEE1E3910D4}"/>
              </a:ext>
            </a:extLst>
          </p:cNvPr>
          <p:cNvSpPr/>
          <p:nvPr/>
        </p:nvSpPr>
        <p:spPr>
          <a:xfrm>
            <a:off x="933571" y="3210694"/>
            <a:ext cx="2805309" cy="934586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ES">
              <a:ln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382CC6A-EF73-4B2F-9CD9-F06BD13D9120}"/>
              </a:ext>
            </a:extLst>
          </p:cNvPr>
          <p:cNvSpPr/>
          <p:nvPr/>
        </p:nvSpPr>
        <p:spPr>
          <a:xfrm>
            <a:off x="5745480" y="833267"/>
            <a:ext cx="807720" cy="228454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ES">
              <a:ln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D29F094-0F8F-4D60-A95B-84CF70365F4B}"/>
              </a:ext>
            </a:extLst>
          </p:cNvPr>
          <p:cNvSpPr/>
          <p:nvPr/>
        </p:nvSpPr>
        <p:spPr>
          <a:xfrm>
            <a:off x="933570" y="4784436"/>
            <a:ext cx="1951869" cy="504530"/>
          </a:xfrm>
          <a:prstGeom prst="rect">
            <a:avLst/>
          </a:prstGeom>
          <a:noFill/>
          <a:ln w="19050" cap="flat" cmpd="sng" algn="ctr">
            <a:solidFill>
              <a:srgbClr val="3DDC8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ES">
              <a:ln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E1AA3CA-6349-493D-839B-6F56E7A66EB6}"/>
              </a:ext>
            </a:extLst>
          </p:cNvPr>
          <p:cNvSpPr/>
          <p:nvPr/>
        </p:nvSpPr>
        <p:spPr>
          <a:xfrm>
            <a:off x="6553200" y="3749963"/>
            <a:ext cx="3902364" cy="323273"/>
          </a:xfrm>
          <a:prstGeom prst="rect">
            <a:avLst/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ES">
              <a:ln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42EA760-C778-492B-9F40-421E2ABE9112}"/>
              </a:ext>
            </a:extLst>
          </p:cNvPr>
          <p:cNvSpPr/>
          <p:nvPr/>
        </p:nvSpPr>
        <p:spPr>
          <a:xfrm>
            <a:off x="6292428" y="4246037"/>
            <a:ext cx="3322628" cy="323272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ES">
              <a:ln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CA024CF-C7A6-491D-8CB3-4BDB9CA62BF0}"/>
              </a:ext>
            </a:extLst>
          </p:cNvPr>
          <p:cNvSpPr/>
          <p:nvPr/>
        </p:nvSpPr>
        <p:spPr>
          <a:xfrm>
            <a:off x="1034472" y="4219060"/>
            <a:ext cx="2096656" cy="417596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ES">
              <a:ln>
                <a:solidFill>
                  <a:schemeClr val="tx1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424535395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2" grpId="0" animBg="1"/>
      <p:bldP spid="12" grpId="1" animBg="1"/>
      <p:bldP spid="13" grpId="0" animBg="1"/>
      <p:bldP spid="14" grpId="0" animBg="1"/>
      <p:bldP spid="15" grpId="0" animBg="1"/>
      <p:bldP spid="1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47E1328-D8D0-4271-B314-862D3A7B3F2D}"/>
              </a:ext>
            </a:extLst>
          </p:cNvPr>
          <p:cNvSpPr txBox="1"/>
          <p:nvPr/>
        </p:nvSpPr>
        <p:spPr>
          <a:xfrm>
            <a:off x="2217401" y="2921168"/>
            <a:ext cx="775402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000" dirty="0"/>
              <a:t>5. Ver mis publicaciones</a:t>
            </a:r>
          </a:p>
        </p:txBody>
      </p:sp>
    </p:spTree>
    <p:extLst>
      <p:ext uri="{BB962C8B-B14F-4D97-AF65-F5344CB8AC3E}">
        <p14:creationId xmlns:p14="http://schemas.microsoft.com/office/powerpoint/2010/main" val="3444022324"/>
      </p:ext>
    </p:extLst>
  </p:cSld>
  <p:clrMapOvr>
    <a:masterClrMapping/>
  </p:clrMapOvr>
  <p:transition spd="slow" advTm="2000">
    <p:cover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34A68B1-9C95-4ED0-9FC7-65976E693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3478" y="688571"/>
            <a:ext cx="5585127" cy="3431385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C56021F2-64E0-46B4-913D-331920CA6D14}"/>
              </a:ext>
            </a:extLst>
          </p:cNvPr>
          <p:cNvSpPr txBox="1"/>
          <p:nvPr/>
        </p:nvSpPr>
        <p:spPr>
          <a:xfrm>
            <a:off x="6984669" y="-2443"/>
            <a:ext cx="3582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dirty="0"/>
              <a:t>EndPoint de la API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EBB514D-2239-496E-BDA5-100DEFA7D206}"/>
              </a:ext>
            </a:extLst>
          </p:cNvPr>
          <p:cNvSpPr txBox="1"/>
          <p:nvPr/>
        </p:nvSpPr>
        <p:spPr>
          <a:xfrm>
            <a:off x="463903" y="3642903"/>
            <a:ext cx="41792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/>
              <a:t>Otras llamadas a la API desde esta vista  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BB48E16-13EE-41EF-A8DC-E858FA1B8E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501" y="5193033"/>
            <a:ext cx="4772062" cy="58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Conector: angular 9">
            <a:extLst>
              <a:ext uri="{FF2B5EF4-FFF2-40B4-BE49-F238E27FC236}">
                <a16:creationId xmlns:a16="http://schemas.microsoft.com/office/drawing/2014/main" id="{4F92A5D4-7293-4D03-AC64-D0AF86C5417A}"/>
              </a:ext>
            </a:extLst>
          </p:cNvPr>
          <p:cNvCxnSpPr>
            <a:cxnSpLocks/>
          </p:cNvCxnSpPr>
          <p:nvPr/>
        </p:nvCxnSpPr>
        <p:spPr>
          <a:xfrm>
            <a:off x="850407" y="5694011"/>
            <a:ext cx="5019380" cy="463254"/>
          </a:xfrm>
          <a:prstGeom prst="bentConnector3">
            <a:avLst>
              <a:gd name="adj1" fmla="val -271"/>
            </a:avLst>
          </a:prstGeom>
          <a:ln w="28575">
            <a:solidFill>
              <a:srgbClr val="3DDC8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: angular 12">
            <a:extLst>
              <a:ext uri="{FF2B5EF4-FFF2-40B4-BE49-F238E27FC236}">
                <a16:creationId xmlns:a16="http://schemas.microsoft.com/office/drawing/2014/main" id="{943794C1-FB83-4B8B-A3AA-65280FFA4C6E}"/>
              </a:ext>
            </a:extLst>
          </p:cNvPr>
          <p:cNvCxnSpPr>
            <a:cxnSpLocks/>
          </p:cNvCxnSpPr>
          <p:nvPr/>
        </p:nvCxnSpPr>
        <p:spPr>
          <a:xfrm>
            <a:off x="850407" y="5694011"/>
            <a:ext cx="5019380" cy="851189"/>
          </a:xfrm>
          <a:prstGeom prst="bentConnector3">
            <a:avLst>
              <a:gd name="adj1" fmla="val -273"/>
            </a:avLst>
          </a:prstGeom>
          <a:ln w="28575">
            <a:solidFill>
              <a:srgbClr val="3DDC8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: angular 23">
            <a:extLst>
              <a:ext uri="{FF2B5EF4-FFF2-40B4-BE49-F238E27FC236}">
                <a16:creationId xmlns:a16="http://schemas.microsoft.com/office/drawing/2014/main" id="{17D7770B-61EE-4888-A48E-FEA9F3E6D4CA}"/>
              </a:ext>
            </a:extLst>
          </p:cNvPr>
          <p:cNvCxnSpPr>
            <a:cxnSpLocks/>
          </p:cNvCxnSpPr>
          <p:nvPr/>
        </p:nvCxnSpPr>
        <p:spPr>
          <a:xfrm flipV="1">
            <a:off x="1776382" y="5032136"/>
            <a:ext cx="4079378" cy="285956"/>
          </a:xfrm>
          <a:prstGeom prst="bentConnector3">
            <a:avLst>
              <a:gd name="adj1" fmla="val -21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2D4B1B51-6E20-4CAB-ACD7-789D41F23348}"/>
              </a:ext>
            </a:extLst>
          </p:cNvPr>
          <p:cNvCxnSpPr>
            <a:cxnSpLocks/>
          </p:cNvCxnSpPr>
          <p:nvPr/>
        </p:nvCxnSpPr>
        <p:spPr>
          <a:xfrm>
            <a:off x="4816955" y="5487189"/>
            <a:ext cx="1052832" cy="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: angular 53">
            <a:extLst>
              <a:ext uri="{FF2B5EF4-FFF2-40B4-BE49-F238E27FC236}">
                <a16:creationId xmlns:a16="http://schemas.microsoft.com/office/drawing/2014/main" id="{7235F933-02C5-4B03-8328-DB44582A3047}"/>
              </a:ext>
            </a:extLst>
          </p:cNvPr>
          <p:cNvCxnSpPr>
            <a:cxnSpLocks/>
          </p:cNvCxnSpPr>
          <p:nvPr/>
        </p:nvCxnSpPr>
        <p:spPr>
          <a:xfrm flipV="1">
            <a:off x="2769353" y="4634734"/>
            <a:ext cx="3086407" cy="645634"/>
          </a:xfrm>
          <a:prstGeom prst="bentConnector3">
            <a:avLst>
              <a:gd name="adj1" fmla="val -464"/>
            </a:avLst>
          </a:prstGeom>
          <a:ln w="28575">
            <a:solidFill>
              <a:srgbClr val="3DDC8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6" name="Picture 4">
            <a:extLst>
              <a:ext uri="{FF2B5EF4-FFF2-40B4-BE49-F238E27FC236}">
                <a16:creationId xmlns:a16="http://schemas.microsoft.com/office/drawing/2014/main" id="{B04BE2C6-65EF-4664-8982-2560FB9CA6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681" y="4164639"/>
            <a:ext cx="5968723" cy="2645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90B36A4C-3B99-41D6-A02A-4B3F4618371B}"/>
              </a:ext>
            </a:extLst>
          </p:cNvPr>
          <p:cNvSpPr/>
          <p:nvPr/>
        </p:nvSpPr>
        <p:spPr>
          <a:xfrm>
            <a:off x="463903" y="189377"/>
            <a:ext cx="4901296" cy="548640"/>
          </a:xfrm>
          <a:prstGeom prst="rect">
            <a:avLst/>
          </a:prstGeom>
          <a:solidFill>
            <a:srgbClr val="68217A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dirty="0" err="1"/>
              <a:t>Cliente</a:t>
            </a:r>
            <a:r>
              <a:rPr dirty="0"/>
              <a:t> </a:t>
            </a:r>
            <a:r>
              <a:rPr lang="es-ES" dirty="0"/>
              <a:t>WEB [HTML / CSS / JS]</a:t>
            </a:r>
            <a:endParaRPr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F0FF12B3-AEE0-4876-8E57-6F66D6E4C5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903" y="865143"/>
            <a:ext cx="4901297" cy="2609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02662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CBA1EFF-43CA-4C13-8F91-98E4597BFDAE}"/>
              </a:ext>
            </a:extLst>
          </p:cNvPr>
          <p:cNvSpPr txBox="1"/>
          <p:nvPr/>
        </p:nvSpPr>
        <p:spPr>
          <a:xfrm>
            <a:off x="-794728" y="2840731"/>
            <a:ext cx="965795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000" dirty="0"/>
              <a:t>6a. Seguidores</a:t>
            </a:r>
          </a:p>
          <a:p>
            <a:r>
              <a:rPr lang="es-ES" sz="6000" dirty="0"/>
              <a:t>            6b. Seguidos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8F92E8F-A7A7-4EDF-8F86-06C9F9833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903" y="3282818"/>
            <a:ext cx="5218378" cy="1496905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DA3C7B16-ADC8-4322-AAD6-3F50B26F53DB}"/>
              </a:ext>
            </a:extLst>
          </p:cNvPr>
          <p:cNvSpPr txBox="1"/>
          <p:nvPr/>
        </p:nvSpPr>
        <p:spPr>
          <a:xfrm>
            <a:off x="-1543556" y="2046111"/>
            <a:ext cx="96579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000" dirty="0"/>
              <a:t>6. Vista de usuarios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D5A2BA1-DF87-482C-8EFB-1A266FD930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3903" y="2239550"/>
            <a:ext cx="5218378" cy="822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891549"/>
      </p:ext>
    </p:extLst>
  </p:cSld>
  <p:clrMapOvr>
    <a:masterClrMapping/>
  </p:clrMapOvr>
  <p:transition spd="slow" advTm="2000">
    <p:cover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>
            <a:extLst>
              <a:ext uri="{FF2B5EF4-FFF2-40B4-BE49-F238E27FC236}">
                <a16:creationId xmlns:a16="http://schemas.microsoft.com/office/drawing/2014/main" id="{4C313531-3090-4DB5-ADB0-BF072F94CC6A}"/>
              </a:ext>
            </a:extLst>
          </p:cNvPr>
          <p:cNvSpPr/>
          <p:nvPr/>
        </p:nvSpPr>
        <p:spPr>
          <a:xfrm>
            <a:off x="3643764" y="43283"/>
            <a:ext cx="4901296" cy="548640"/>
          </a:xfrm>
          <a:prstGeom prst="rect">
            <a:avLst/>
          </a:prstGeom>
          <a:solidFill>
            <a:srgbClr val="68217A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dirty="0" err="1"/>
              <a:t>Cliente</a:t>
            </a:r>
            <a:r>
              <a:rPr dirty="0"/>
              <a:t> </a:t>
            </a:r>
            <a:r>
              <a:rPr lang="es-ES" dirty="0"/>
              <a:t>WEB [HTML / CSS / JS]</a:t>
            </a:r>
            <a:endParaRPr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CAD5CDE-68D9-4E93-AEFD-E829B6D61B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546" y="849360"/>
            <a:ext cx="10729732" cy="571358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8EB967CF-AAAD-4D9E-933C-C412FC8EDE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546" y="848812"/>
            <a:ext cx="10729732" cy="571358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0F67380C-9AB8-4F9F-BA2B-22FAC7C591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546" y="849360"/>
            <a:ext cx="10729732" cy="5713583"/>
          </a:xfrm>
          <a:prstGeom prst="rect">
            <a:avLst/>
          </a:prstGeom>
        </p:spPr>
      </p:pic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76EBCB95-759B-41BC-B609-169BFD8E0A8A}"/>
              </a:ext>
            </a:extLst>
          </p:cNvPr>
          <p:cNvCxnSpPr/>
          <p:nvPr/>
        </p:nvCxnSpPr>
        <p:spPr>
          <a:xfrm flipH="1">
            <a:off x="1747520" y="1666240"/>
            <a:ext cx="95504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6ECD078C-1173-40B9-943F-921C5D206BF4}"/>
              </a:ext>
            </a:extLst>
          </p:cNvPr>
          <p:cNvCxnSpPr/>
          <p:nvPr/>
        </p:nvCxnSpPr>
        <p:spPr>
          <a:xfrm flipH="1">
            <a:off x="1747520" y="1666240"/>
            <a:ext cx="95504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19058291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1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72D3C3F-21F8-43D0-A580-EEF79412C91F}"/>
              </a:ext>
            </a:extLst>
          </p:cNvPr>
          <p:cNvSpPr txBox="1"/>
          <p:nvPr/>
        </p:nvSpPr>
        <p:spPr>
          <a:xfrm>
            <a:off x="2212792" y="1997839"/>
            <a:ext cx="776324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000" dirty="0"/>
              <a:t>El código de:</a:t>
            </a:r>
          </a:p>
          <a:p>
            <a:pPr marL="1143000" indent="-1143000">
              <a:buFont typeface="+mj-lt"/>
              <a:buAutoNum type="arabicPeriod"/>
            </a:pPr>
            <a:r>
              <a:rPr lang="es-ES" sz="6000" dirty="0"/>
              <a:t>Usuarios.</a:t>
            </a:r>
          </a:p>
          <a:p>
            <a:pPr marL="1143000" indent="-1143000">
              <a:buFont typeface="+mj-lt"/>
              <a:buAutoNum type="arabicPeriod"/>
            </a:pPr>
            <a:r>
              <a:rPr lang="es-ES" sz="6000" dirty="0"/>
              <a:t>Seguidores/Seguidos.</a:t>
            </a:r>
          </a:p>
        </p:txBody>
      </p:sp>
    </p:spTree>
    <p:extLst>
      <p:ext uri="{BB962C8B-B14F-4D97-AF65-F5344CB8AC3E}">
        <p14:creationId xmlns:p14="http://schemas.microsoft.com/office/powerpoint/2010/main" val="4060735233"/>
      </p:ext>
    </p:extLst>
  </p:cSld>
  <p:clrMapOvr>
    <a:masterClrMapping/>
  </p:clrMapOvr>
  <p:transition spd="slow" advTm="2000">
    <p:cover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EDEB363B-5B17-40A6-AF0D-8ECDA5E8D4F5}"/>
              </a:ext>
            </a:extLst>
          </p:cNvPr>
          <p:cNvSpPr txBox="1"/>
          <p:nvPr/>
        </p:nvSpPr>
        <p:spPr>
          <a:xfrm>
            <a:off x="277812" y="124409"/>
            <a:ext cx="11633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dirty="0" err="1"/>
              <a:t>EndPoints</a:t>
            </a:r>
            <a:r>
              <a:rPr lang="es-ES" sz="3600" dirty="0"/>
              <a:t> de la API usados</a:t>
            </a:r>
          </a:p>
        </p:txBody>
      </p:sp>
      <p:pic>
        <p:nvPicPr>
          <p:cNvPr id="2052" name="Picture 4" descr="Imagen sin fondo">
            <a:extLst>
              <a:ext uri="{FF2B5EF4-FFF2-40B4-BE49-F238E27FC236}">
                <a16:creationId xmlns:a16="http://schemas.microsoft.com/office/drawing/2014/main" id="{73FC1C70-B502-49E4-ABB6-FC65C9E747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6782" y="1152991"/>
            <a:ext cx="7795260" cy="5196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6304993"/>
      </p:ext>
    </p:extLst>
  </p:cSld>
  <p:clrMapOvr>
    <a:masterClrMapping/>
  </p:clrMapOvr>
  <p:transition spd="slow">
    <p:cover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47E1328-D8D0-4271-B314-862D3A7B3F2D}"/>
              </a:ext>
            </a:extLst>
          </p:cNvPr>
          <p:cNvSpPr txBox="1"/>
          <p:nvPr/>
        </p:nvSpPr>
        <p:spPr>
          <a:xfrm>
            <a:off x="2477324" y="2419534"/>
            <a:ext cx="72341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000" dirty="0"/>
              <a:t>7.Perfil de usuario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CD19B36-A794-46F2-8637-0F2CCB4793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202" y="3821285"/>
            <a:ext cx="2895210" cy="87638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035C6C7-A45A-431B-829A-157402D7AD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412" y="3812524"/>
            <a:ext cx="3170067" cy="88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344626"/>
      </p:ext>
    </p:extLst>
  </p:cSld>
  <p:clrMapOvr>
    <a:masterClrMapping/>
  </p:clrMapOvr>
  <p:transition spd="slow" advTm="2000">
    <p:cover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646719" y="189377"/>
            <a:ext cx="4901296" cy="548640"/>
          </a:xfrm>
          <a:prstGeom prst="rect">
            <a:avLst/>
          </a:prstGeom>
          <a:solidFill>
            <a:srgbClr val="68217A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lang="es-ES" dirty="0"/>
              <a:t>Cliente</a:t>
            </a:r>
            <a:r>
              <a:rPr dirty="0"/>
              <a:t> </a:t>
            </a:r>
            <a:r>
              <a:rPr lang="es-ES" dirty="0"/>
              <a:t>móvil [Android]</a:t>
            </a:r>
            <a:endParaRPr dirty="0"/>
          </a:p>
        </p:txBody>
      </p:sp>
      <p:sp>
        <p:nvSpPr>
          <p:cNvPr id="15" name="AutoShape 2">
            <a:extLst>
              <a:ext uri="{FF2B5EF4-FFF2-40B4-BE49-F238E27FC236}">
                <a16:creationId xmlns:a16="http://schemas.microsoft.com/office/drawing/2014/main" id="{89189D5D-1BE3-4A3B-8159-0DB45263D49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2013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" name="Rectangle 4">
            <a:extLst>
              <a:ext uri="{FF2B5EF4-FFF2-40B4-BE49-F238E27FC236}">
                <a16:creationId xmlns:a16="http://schemas.microsoft.com/office/drawing/2014/main" id="{6C7906AC-1187-4570-A72B-67176FF73C82}"/>
              </a:ext>
            </a:extLst>
          </p:cNvPr>
          <p:cNvSpPr/>
          <p:nvPr/>
        </p:nvSpPr>
        <p:spPr>
          <a:xfrm>
            <a:off x="1345516" y="3610557"/>
            <a:ext cx="4901297" cy="548640"/>
          </a:xfrm>
          <a:prstGeom prst="rect">
            <a:avLst/>
          </a:prstGeom>
          <a:solidFill>
            <a:srgbClr val="68217A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dirty="0" err="1"/>
              <a:t>Cliente</a:t>
            </a:r>
            <a:r>
              <a:rPr dirty="0"/>
              <a:t> </a:t>
            </a:r>
            <a:r>
              <a:rPr lang="es-ES" dirty="0"/>
              <a:t>escritorio [C#]</a:t>
            </a:r>
            <a:endParaRPr dirty="0"/>
          </a:p>
        </p:txBody>
      </p:sp>
      <p:sp>
        <p:nvSpPr>
          <p:cNvPr id="22" name="Rectangle 1">
            <a:extLst>
              <a:ext uri="{FF2B5EF4-FFF2-40B4-BE49-F238E27FC236}">
                <a16:creationId xmlns:a16="http://schemas.microsoft.com/office/drawing/2014/main" id="{92CCC912-5D12-4C17-9390-CB4B58B8916A}"/>
              </a:ext>
            </a:extLst>
          </p:cNvPr>
          <p:cNvSpPr/>
          <p:nvPr/>
        </p:nvSpPr>
        <p:spPr>
          <a:xfrm>
            <a:off x="1345515" y="189377"/>
            <a:ext cx="4901296" cy="548640"/>
          </a:xfrm>
          <a:prstGeom prst="rect">
            <a:avLst/>
          </a:prstGeom>
          <a:solidFill>
            <a:srgbClr val="68217A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dirty="0" err="1"/>
              <a:t>Cliente</a:t>
            </a:r>
            <a:r>
              <a:rPr dirty="0"/>
              <a:t> </a:t>
            </a:r>
            <a:r>
              <a:rPr lang="es-ES" dirty="0"/>
              <a:t>WEB [HTML / CSS / JS]</a:t>
            </a:r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358F81C-0278-42B2-8860-F37FF90D23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5514" y="879721"/>
            <a:ext cx="4901297" cy="260994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6DAD6F1-E28D-48E0-B2ED-EA2D161BB5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5513" y="4280092"/>
            <a:ext cx="4901297" cy="2476846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F18F091A-2DAB-4C93-A82C-928A4C0A5F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0801" y="973729"/>
            <a:ext cx="2420668" cy="5805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41598"/>
      </p:ext>
    </p:extLst>
  </p:cSld>
  <p:clrMapOvr>
    <a:masterClrMapping/>
  </p:clrMapOvr>
  <p:transition spd="slow">
    <p:cover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F75450C-D149-4D85-BFDB-EC311F9E3447}"/>
              </a:ext>
            </a:extLst>
          </p:cNvPr>
          <p:cNvSpPr txBox="1"/>
          <p:nvPr/>
        </p:nvSpPr>
        <p:spPr>
          <a:xfrm>
            <a:off x="2701838" y="1997839"/>
            <a:ext cx="678514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000" dirty="0"/>
              <a:t>El código de: </a:t>
            </a:r>
          </a:p>
          <a:p>
            <a:pPr marL="1143000" indent="-1143000">
              <a:buFont typeface="+mj-lt"/>
              <a:buAutoNum type="arabicPeriod"/>
            </a:pPr>
            <a:r>
              <a:rPr lang="es-ES" sz="6000" dirty="0"/>
              <a:t>Guardar cambios</a:t>
            </a:r>
          </a:p>
          <a:p>
            <a:pPr marL="1143000" indent="-1143000">
              <a:buFont typeface="+mj-lt"/>
              <a:buAutoNum type="arabicPeriod"/>
            </a:pPr>
            <a:r>
              <a:rPr lang="es-ES" sz="6000" dirty="0"/>
              <a:t>Borrar cuenta</a:t>
            </a:r>
          </a:p>
        </p:txBody>
      </p:sp>
    </p:spTree>
    <p:extLst>
      <p:ext uri="{BB962C8B-B14F-4D97-AF65-F5344CB8AC3E}">
        <p14:creationId xmlns:p14="http://schemas.microsoft.com/office/powerpoint/2010/main" val="268050655"/>
      </p:ext>
    </p:extLst>
  </p:cSld>
  <p:clrMapOvr>
    <a:masterClrMapping/>
  </p:clrMapOvr>
  <p:transition spd="slow" advTm="2000">
    <p:cover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4299BCCD-D119-4DEC-9AD4-0D2A2E686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909" y="1108509"/>
            <a:ext cx="4629796" cy="154326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C41B626F-2547-4179-9473-9475E8EF2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4562" y="1108509"/>
            <a:ext cx="4143953" cy="1286054"/>
          </a:xfrm>
          <a:prstGeom prst="rect">
            <a:avLst/>
          </a:prstGeom>
        </p:spPr>
      </p:pic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AB2D6F94-A76B-41CE-920C-18C97EAE2EE0}"/>
              </a:ext>
            </a:extLst>
          </p:cNvPr>
          <p:cNvCxnSpPr/>
          <p:nvPr/>
        </p:nvCxnSpPr>
        <p:spPr>
          <a:xfrm>
            <a:off x="5088540" y="1888776"/>
            <a:ext cx="2039007" cy="0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>
            <a:extLst>
              <a:ext uri="{FF2B5EF4-FFF2-40B4-BE49-F238E27FC236}">
                <a16:creationId xmlns:a16="http://schemas.microsoft.com/office/drawing/2014/main" id="{C587D799-F3D7-47D0-89DC-F89C658B0E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3720" y="1112323"/>
            <a:ext cx="1962424" cy="59063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AD00540-A733-40E0-93E8-95ACA79D52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7363" y="1009079"/>
            <a:ext cx="8341360" cy="4839841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CC8B4473-0FB4-45AC-83F8-B1C712F35B45}"/>
              </a:ext>
            </a:extLst>
          </p:cNvPr>
          <p:cNvSpPr txBox="1"/>
          <p:nvPr/>
        </p:nvSpPr>
        <p:spPr>
          <a:xfrm>
            <a:off x="880435" y="373891"/>
            <a:ext cx="3582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dirty="0"/>
              <a:t>EndPoint de la API </a:t>
            </a:r>
          </a:p>
        </p:txBody>
      </p:sp>
    </p:spTree>
    <p:extLst>
      <p:ext uri="{BB962C8B-B14F-4D97-AF65-F5344CB8AC3E}">
        <p14:creationId xmlns:p14="http://schemas.microsoft.com/office/powerpoint/2010/main" val="172250788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7181083-9153-41CE-B4F6-2D6CF0759D43}"/>
              </a:ext>
            </a:extLst>
          </p:cNvPr>
          <p:cNvSpPr txBox="1"/>
          <p:nvPr/>
        </p:nvSpPr>
        <p:spPr>
          <a:xfrm>
            <a:off x="1042243" y="520420"/>
            <a:ext cx="3582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dirty="0"/>
              <a:t>EndPoint de la API 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D3C237A-0413-4FE0-8E53-4099EE8D50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003" y="1199997"/>
            <a:ext cx="4629796" cy="1543265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9D8F8F5A-470B-4BCD-A038-E931E1A1BE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4966" y="1203832"/>
            <a:ext cx="4143953" cy="140989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06D55D89-61B6-4B9E-8FDF-1A6B1E94F6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4966" y="4470286"/>
            <a:ext cx="4143953" cy="1257475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5D7986FD-D377-4400-86E5-18E2A0E447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972" y="4470287"/>
            <a:ext cx="4153480" cy="1257475"/>
          </a:xfrm>
          <a:prstGeom prst="rect">
            <a:avLst/>
          </a:prstGeom>
        </p:spPr>
      </p:pic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BA2E7C7C-DEE0-4E20-BF7B-F135735D4164}"/>
              </a:ext>
            </a:extLst>
          </p:cNvPr>
          <p:cNvCxnSpPr>
            <a:cxnSpLocks/>
          </p:cNvCxnSpPr>
          <p:nvPr/>
        </p:nvCxnSpPr>
        <p:spPr>
          <a:xfrm>
            <a:off x="4981903" y="2366783"/>
            <a:ext cx="230745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BF9439F8-83F8-42B4-8184-812D77F4B9EC}"/>
              </a:ext>
            </a:extLst>
          </p:cNvPr>
          <p:cNvCxnSpPr>
            <a:cxnSpLocks/>
          </p:cNvCxnSpPr>
          <p:nvPr/>
        </p:nvCxnSpPr>
        <p:spPr>
          <a:xfrm>
            <a:off x="9552530" y="2743262"/>
            <a:ext cx="0" cy="15727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9478B1D7-3165-41B9-900C-7FAC2E3FB80B}"/>
              </a:ext>
            </a:extLst>
          </p:cNvPr>
          <p:cNvCxnSpPr>
            <a:cxnSpLocks/>
          </p:cNvCxnSpPr>
          <p:nvPr/>
        </p:nvCxnSpPr>
        <p:spPr>
          <a:xfrm flipH="1">
            <a:off x="4819799" y="5099023"/>
            <a:ext cx="241302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Imagen 20">
            <a:extLst>
              <a:ext uri="{FF2B5EF4-FFF2-40B4-BE49-F238E27FC236}">
                <a16:creationId xmlns:a16="http://schemas.microsoft.com/office/drawing/2014/main" id="{E1C071D1-A390-411C-B6F8-BD90CC2D0B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13200" y="1203832"/>
            <a:ext cx="1962424" cy="609685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8FA8F3CC-C0BF-4544-9C28-F0091FBDE3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165" y="790825"/>
            <a:ext cx="10416494" cy="547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778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500"/>
                            </p:stCondLst>
                            <p:childTnLst>
                              <p:par>
                                <p:cTn id="4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47E1328-D8D0-4271-B314-862D3A7B3F2D}"/>
              </a:ext>
            </a:extLst>
          </p:cNvPr>
          <p:cNvSpPr txBox="1"/>
          <p:nvPr/>
        </p:nvSpPr>
        <p:spPr>
          <a:xfrm>
            <a:off x="1742502" y="2921168"/>
            <a:ext cx="87038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000" dirty="0"/>
              <a:t>8.Líneas de trabajo futuras.</a:t>
            </a:r>
          </a:p>
        </p:txBody>
      </p:sp>
    </p:spTree>
    <p:extLst>
      <p:ext uri="{BB962C8B-B14F-4D97-AF65-F5344CB8AC3E}">
        <p14:creationId xmlns:p14="http://schemas.microsoft.com/office/powerpoint/2010/main" val="4028297237"/>
      </p:ext>
    </p:extLst>
  </p:cSld>
  <p:clrMapOvr>
    <a:masterClrMapping/>
  </p:clrMapOvr>
  <p:transition spd="slow" advTm="2000">
    <p:cover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FAF71242-5752-4A9E-8525-78961784E35D}"/>
              </a:ext>
            </a:extLst>
          </p:cNvPr>
          <p:cNvSpPr txBox="1"/>
          <p:nvPr/>
        </p:nvSpPr>
        <p:spPr>
          <a:xfrm>
            <a:off x="208344" y="194870"/>
            <a:ext cx="53475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/>
              <a:t>En próximas versiones  de 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EA98B31-FDBD-4F0A-AA8A-A69D7DB28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1034" y="122299"/>
            <a:ext cx="1572135" cy="66456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5FD8CB5-D3E9-4BE0-A349-B368549D969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4803"/>
          <a:stretch/>
        </p:blipFill>
        <p:spPr>
          <a:xfrm>
            <a:off x="410870" y="3456497"/>
            <a:ext cx="2335044" cy="507412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A2397AFB-D6D9-49F6-8B98-07274878792E}"/>
              </a:ext>
            </a:extLst>
          </p:cNvPr>
          <p:cNvSpPr txBox="1"/>
          <p:nvPr/>
        </p:nvSpPr>
        <p:spPr>
          <a:xfrm>
            <a:off x="392912" y="1584492"/>
            <a:ext cx="3785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Botón rojo: algo no se ha completado.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DB20FA6-73AB-40C5-BD60-F1ECFDC4879A}"/>
              </a:ext>
            </a:extLst>
          </p:cNvPr>
          <p:cNvSpPr txBox="1"/>
          <p:nvPr/>
        </p:nvSpPr>
        <p:spPr>
          <a:xfrm>
            <a:off x="392912" y="2778466"/>
            <a:ext cx="4144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Botón amarillo: contraseñas no coinciden.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8DB2C46-1F0B-4B1A-8A25-BF42E843FD8D}"/>
              </a:ext>
            </a:extLst>
          </p:cNvPr>
          <p:cNvSpPr txBox="1"/>
          <p:nvPr/>
        </p:nvSpPr>
        <p:spPr>
          <a:xfrm>
            <a:off x="410870" y="3985934"/>
            <a:ext cx="4582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Botón verde: el formulario está cubierto </a:t>
            </a:r>
          </a:p>
          <a:p>
            <a:r>
              <a:rPr lang="es-ES" dirty="0"/>
              <a:t>de forma correcta.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7BDE89A-DEA4-4020-B12B-C74E86C4CBF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84803"/>
          <a:stretch/>
        </p:blipFill>
        <p:spPr>
          <a:xfrm>
            <a:off x="407453" y="2255856"/>
            <a:ext cx="2338461" cy="50815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931F41AA-68C5-4123-863A-291D2377F66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421" t="83523" r="-1421" b="-460"/>
          <a:stretch/>
        </p:blipFill>
        <p:spPr>
          <a:xfrm>
            <a:off x="392912" y="1028382"/>
            <a:ext cx="2353002" cy="559009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4028E1D3-10B5-4B3A-890B-97001566F868}"/>
              </a:ext>
            </a:extLst>
          </p:cNvPr>
          <p:cNvSpPr txBox="1"/>
          <p:nvPr/>
        </p:nvSpPr>
        <p:spPr>
          <a:xfrm>
            <a:off x="392912" y="4563176"/>
            <a:ext cx="5241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Estos estilos están presentes en el cliente escritorio.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07152569-EFE9-479B-8551-67D319FBED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3418" y="997183"/>
            <a:ext cx="5695057" cy="3025499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A82ABCA7-93FC-4B8A-BB75-6C3DCE2251EB}"/>
              </a:ext>
            </a:extLst>
          </p:cNvPr>
          <p:cNvSpPr txBox="1"/>
          <p:nvPr/>
        </p:nvSpPr>
        <p:spPr>
          <a:xfrm>
            <a:off x="5844682" y="4563176"/>
            <a:ext cx="5492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Estos estilos están presentes en el cliente web y móvil.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2D01E382-FFCC-4A77-94B8-C0BA504BC54A}"/>
              </a:ext>
            </a:extLst>
          </p:cNvPr>
          <p:cNvSpPr txBox="1"/>
          <p:nvPr/>
        </p:nvSpPr>
        <p:spPr>
          <a:xfrm>
            <a:off x="4537085" y="5747841"/>
            <a:ext cx="75546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>
                <a:solidFill>
                  <a:srgbClr val="FF0000"/>
                </a:solidFill>
              </a:rPr>
              <a:t>Se unificarán estos estilos en los tres clientes en la siguiente versión.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90826C35-5C39-47DF-8924-77E496A5A577}"/>
              </a:ext>
            </a:extLst>
          </p:cNvPr>
          <p:cNvSpPr txBox="1"/>
          <p:nvPr/>
        </p:nvSpPr>
        <p:spPr>
          <a:xfrm>
            <a:off x="5844681" y="3989563"/>
            <a:ext cx="54925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Los campos vacíos se rellenan con un </a:t>
            </a:r>
            <a:r>
              <a:rPr lang="es-ES" dirty="0" err="1"/>
              <a:t>placeholder</a:t>
            </a:r>
            <a:r>
              <a:rPr lang="es-ES" dirty="0"/>
              <a:t> con una grase aleatoria de una lista.</a:t>
            </a:r>
          </a:p>
        </p:txBody>
      </p:sp>
    </p:spTree>
    <p:extLst>
      <p:ext uri="{BB962C8B-B14F-4D97-AF65-F5344CB8AC3E}">
        <p14:creationId xmlns:p14="http://schemas.microsoft.com/office/powerpoint/2010/main" val="138229956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250"/>
                            </p:stCondLst>
                            <p:childTnLst>
                              <p:par>
                                <p:cTn id="1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9" grpId="0"/>
      <p:bldP spid="10" grpId="0"/>
      <p:bldP spid="13" grpId="0"/>
      <p:bldP spid="24" grpId="0"/>
      <p:bldP spid="26" grpId="0"/>
      <p:bldP spid="2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2437696C-7027-41F0-8DAB-92C049E09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8887" y="234313"/>
            <a:ext cx="2873345" cy="638937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C8B78E8F-09AD-49D3-9AAF-C7E376C96F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0288" y="234314"/>
            <a:ext cx="2873345" cy="6389371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106EC387-ECC9-4C3A-B624-0F5A550C32D8}"/>
              </a:ext>
            </a:extLst>
          </p:cNvPr>
          <p:cNvSpPr txBox="1"/>
          <p:nvPr/>
        </p:nvSpPr>
        <p:spPr>
          <a:xfrm>
            <a:off x="-3823" y="3154894"/>
            <a:ext cx="62797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Multilenguaje solo está disponible en el cliente móvil.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2674E47-1183-4E87-9452-121718857561}"/>
              </a:ext>
            </a:extLst>
          </p:cNvPr>
          <p:cNvSpPr txBox="1"/>
          <p:nvPr/>
        </p:nvSpPr>
        <p:spPr>
          <a:xfrm>
            <a:off x="-3823" y="3428998"/>
            <a:ext cx="580888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Ahora mismo ningún cliente admite imágenes ni en perfil ni en publicaciones.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163DDA1-BBDD-4915-B967-A70B4449ED15}"/>
              </a:ext>
            </a:extLst>
          </p:cNvPr>
          <p:cNvSpPr txBox="1"/>
          <p:nvPr/>
        </p:nvSpPr>
        <p:spPr>
          <a:xfrm>
            <a:off x="-3823" y="5075449"/>
            <a:ext cx="81139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b="1" dirty="0">
                <a:solidFill>
                  <a:srgbClr val="FF0000"/>
                </a:solidFill>
              </a:rPr>
              <a:t>Se ampliarán los idiomas disponibles</a:t>
            </a:r>
            <a:br>
              <a:rPr lang="es-ES" sz="1400" b="1" dirty="0">
                <a:solidFill>
                  <a:srgbClr val="FF0000"/>
                </a:solidFill>
              </a:rPr>
            </a:br>
            <a:r>
              <a:rPr lang="es-ES" sz="1400" b="1" dirty="0">
                <a:solidFill>
                  <a:srgbClr val="FF0000"/>
                </a:solidFill>
              </a:rPr>
              <a:t>y se añadirán al resto de clientes en próximas versiones 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2938C230-C1D9-407D-BC04-19780BBAC51D}"/>
              </a:ext>
            </a:extLst>
          </p:cNvPr>
          <p:cNvSpPr/>
          <p:nvPr/>
        </p:nvSpPr>
        <p:spPr>
          <a:xfrm>
            <a:off x="6186160" y="5668955"/>
            <a:ext cx="2118798" cy="495670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ES">
              <a:ln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5A81B90B-BCC8-4D9A-AB79-18426F58123C}"/>
              </a:ext>
            </a:extLst>
          </p:cNvPr>
          <p:cNvSpPr/>
          <p:nvPr/>
        </p:nvSpPr>
        <p:spPr>
          <a:xfrm>
            <a:off x="9340385" y="5661938"/>
            <a:ext cx="2118798" cy="495670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ES">
              <a:ln>
                <a:solidFill>
                  <a:schemeClr val="tx1"/>
                </a:solidFill>
              </a:ln>
              <a:noFill/>
            </a:endParaRPr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79351A47-6B39-4B67-B732-58CA95B60D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736" y="234313"/>
            <a:ext cx="5039902" cy="281981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8" name="CuadroTexto 27">
            <a:extLst>
              <a:ext uri="{FF2B5EF4-FFF2-40B4-BE49-F238E27FC236}">
                <a16:creationId xmlns:a16="http://schemas.microsoft.com/office/drawing/2014/main" id="{CDB27DA6-8299-43E5-9564-D2BA248F90D7}"/>
              </a:ext>
            </a:extLst>
          </p:cNvPr>
          <p:cNvSpPr txBox="1"/>
          <p:nvPr/>
        </p:nvSpPr>
        <p:spPr>
          <a:xfrm>
            <a:off x="0" y="5571119"/>
            <a:ext cx="6290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b="1" dirty="0">
                <a:solidFill>
                  <a:srgbClr val="FF0000"/>
                </a:solidFill>
              </a:rPr>
              <a:t>También se implementará la foto de perfil </a:t>
            </a:r>
          </a:p>
          <a:p>
            <a:r>
              <a:rPr lang="es-ES" sz="1400" b="1" dirty="0">
                <a:solidFill>
                  <a:srgbClr val="FF0000"/>
                </a:solidFill>
              </a:rPr>
              <a:t>y poder subir publicaciones con foto adjunta.</a:t>
            </a:r>
          </a:p>
        </p:txBody>
      </p:sp>
    </p:spTree>
    <p:extLst>
      <p:ext uri="{BB962C8B-B14F-4D97-AF65-F5344CB8AC3E}">
        <p14:creationId xmlns:p14="http://schemas.microsoft.com/office/powerpoint/2010/main" val="531830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1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9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1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2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4" grpId="0"/>
      <p:bldP spid="20" grpId="0" animBg="1"/>
      <p:bldP spid="21" grpId="0" animBg="1"/>
      <p:bldP spid="2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95C943F-A656-4E61-8BC1-B0276761ED75}"/>
              </a:ext>
            </a:extLst>
          </p:cNvPr>
          <p:cNvSpPr txBox="1"/>
          <p:nvPr/>
        </p:nvSpPr>
        <p:spPr>
          <a:xfrm>
            <a:off x="9457738" y="5798299"/>
            <a:ext cx="27310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Carlos Alberto Piñeiro Italiani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47B9B85-905F-4AE2-B233-9A4CE60E1C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6712" y="1886673"/>
            <a:ext cx="2195395" cy="394515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8A0DD5C-1695-4EAA-A512-912A543CDF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728" y="710043"/>
            <a:ext cx="10949365" cy="1176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499625"/>
      </p:ext>
    </p:extLst>
  </p:cSld>
  <p:clrMapOvr>
    <a:masterClrMapping/>
  </p:clrMapOvr>
  <p:transition spd="slow" advTm="4000">
    <p:cover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6950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glitter dir="r" pattern="hexagon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5|0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5|0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1"/>
</p:tagLst>
</file>

<file path=ppt/theme/theme1.xml><?xml version="1.0" encoding="utf-8"?>
<a:theme xmlns:a="http://schemas.openxmlformats.org/drawingml/2006/main" name="Galería">
  <a:themeElements>
    <a:clrScheme name="Galería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ía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í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15577</TotalTime>
  <Words>821</Words>
  <Application>Microsoft Office PowerPoint</Application>
  <PresentationFormat>Personalizado</PresentationFormat>
  <Paragraphs>154</Paragraphs>
  <Slides>38</Slides>
  <Notes>27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38</vt:i4>
      </vt:variant>
    </vt:vector>
  </HeadingPairs>
  <TitlesOfParts>
    <vt:vector size="42" baseType="lpstr">
      <vt:lpstr>Arial</vt:lpstr>
      <vt:lpstr>Calibri</vt:lpstr>
      <vt:lpstr>Gill Sans MT</vt:lpstr>
      <vt:lpstr>Galería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Carlos Italiani</dc:creator>
  <cp:keywords/>
  <dc:description>generated using python-pptx</dc:description>
  <cp:lastModifiedBy>Carlos Italiani</cp:lastModifiedBy>
  <cp:revision>235</cp:revision>
  <dcterms:created xsi:type="dcterms:W3CDTF">2013-01-27T09:14:16Z</dcterms:created>
  <dcterms:modified xsi:type="dcterms:W3CDTF">2026-05-11T19:56:12Z</dcterms:modified>
  <cp:category/>
</cp:coreProperties>
</file>